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359" r:id="rId2"/>
    <p:sldId id="358" r:id="rId3"/>
    <p:sldId id="361" r:id="rId4"/>
    <p:sldId id="355" r:id="rId5"/>
    <p:sldId id="357" r:id="rId6"/>
    <p:sldId id="3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1B364F-2371-4101-B2D2-5F385C3245E2}">
          <p14:sldIdLst>
            <p14:sldId id="359"/>
            <p14:sldId id="358"/>
            <p14:sldId id="361"/>
            <p14:sldId id="355"/>
            <p14:sldId id="357"/>
            <p14:sldId id="360"/>
          </p14:sldIdLst>
        </p14:section>
        <p14:section name="Appendix" id="{AE025130-7A99-41D4-B522-ED095CB2199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00"/>
    <a:srgbClr val="FBE5D6"/>
    <a:srgbClr val="C55A11"/>
    <a:srgbClr val="44546A"/>
    <a:srgbClr val="ED7D31"/>
    <a:srgbClr val="E7E6E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72466" autoAdjust="0"/>
  </p:normalViewPr>
  <p:slideViewPr>
    <p:cSldViewPr snapToGrid="0">
      <p:cViewPr varScale="1">
        <p:scale>
          <a:sx n="90" d="100"/>
          <a:sy n="90" d="100"/>
        </p:scale>
        <p:origin x="2216"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7BA36-E0FD-4E0A-B8DA-A9E7499AD2FB}" type="datetimeFigureOut">
              <a:rPr lang="en-SG" smtClean="0"/>
              <a:t>25/3/25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7019E-F4A4-4968-85F6-64D7E022BA11}" type="slidenum">
              <a:rPr lang="en-SG" smtClean="0"/>
              <a:t>‹#›</a:t>
            </a:fld>
            <a:endParaRPr lang="en-SG"/>
          </a:p>
        </p:txBody>
      </p:sp>
    </p:spTree>
    <p:extLst>
      <p:ext uri="{BB962C8B-B14F-4D97-AF65-F5344CB8AC3E}">
        <p14:creationId xmlns:p14="http://schemas.microsoft.com/office/powerpoint/2010/main" val="267788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approach we took</a:t>
            </a:r>
          </a:p>
          <a:p>
            <a:endParaRPr lang="en-US" dirty="0"/>
          </a:p>
          <a:p>
            <a:pPr>
              <a:buNone/>
            </a:pPr>
            <a:r>
              <a:rPr lang="en-SG" b="1" dirty="0"/>
              <a:t>Work Done:</a:t>
            </a:r>
          </a:p>
          <a:p>
            <a:pPr>
              <a:buNone/>
            </a:pPr>
            <a:r>
              <a:rPr lang="en-SG" dirty="0"/>
              <a:t>- Analysed correlations between ESG metrics and credit ratings.</a:t>
            </a:r>
          </a:p>
          <a:p>
            <a:pPr>
              <a:buFont typeface="Arial" panose="020B0604020202020204" pitchFamily="34" charset="0"/>
              <a:buChar char="•"/>
            </a:pPr>
            <a:r>
              <a:rPr lang="en-SG" dirty="0"/>
              <a:t>Objective: Develop a predictive model for internal credit rating using ESG and financial data.</a:t>
            </a:r>
          </a:p>
        </p:txBody>
      </p:sp>
      <p:sp>
        <p:nvSpPr>
          <p:cNvPr id="4" name="Slide Number Placeholder 3"/>
          <p:cNvSpPr>
            <a:spLocks noGrp="1"/>
          </p:cNvSpPr>
          <p:nvPr>
            <p:ph type="sldNum" sz="quarter" idx="5"/>
          </p:nvPr>
        </p:nvSpPr>
        <p:spPr/>
        <p:txBody>
          <a:bodyPr/>
          <a:lstStyle/>
          <a:p>
            <a:fld id="{A957019E-F4A4-4968-85F6-64D7E022BA11}" type="slidenum">
              <a:rPr lang="en-SG" smtClean="0"/>
              <a:t>1</a:t>
            </a:fld>
            <a:endParaRPr lang="en-SG"/>
          </a:p>
        </p:txBody>
      </p:sp>
    </p:spTree>
    <p:extLst>
      <p:ext uri="{BB962C8B-B14F-4D97-AF65-F5344CB8AC3E}">
        <p14:creationId xmlns:p14="http://schemas.microsoft.com/office/powerpoint/2010/main" val="3559050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Collected ESG risk scores from S&amp;P for large U.S.-based companies, financial metrics and credit ratings. </a:t>
            </a:r>
          </a:p>
          <a:p>
            <a:r>
              <a:rPr lang="en-SG" b="1" dirty="0"/>
              <a:t>Goal was to explore whether ESG performance is reflected in a company’s creditworthiness and financials.</a:t>
            </a:r>
          </a:p>
          <a:p>
            <a:endParaRPr lang="en-SG" b="1" dirty="0"/>
          </a:p>
          <a:p>
            <a:pPr marL="171450" indent="-171450">
              <a:buFontTx/>
              <a:buChar char="-"/>
            </a:pPr>
            <a:r>
              <a:rPr lang="en-SG" b="1" dirty="0"/>
              <a:t>ESG scores don’t strongly predict credit ratings in this dataset, they are moderately aligned with financial efficiency</a:t>
            </a:r>
          </a:p>
          <a:p>
            <a:pPr marL="171450" indent="-171450">
              <a:buFontTx/>
              <a:buChar char="-"/>
            </a:pPr>
            <a:r>
              <a:rPr lang="en-SG" b="1" dirty="0"/>
              <a:t>supports the idea that ESG factors may signal operational success, but aren’t yet fully integrated into traditional credit scoring mechanisms</a:t>
            </a:r>
            <a:endParaRPr lang="en-US" b="1" dirty="0"/>
          </a:p>
        </p:txBody>
      </p:sp>
      <p:sp>
        <p:nvSpPr>
          <p:cNvPr id="4" name="Slide Number Placeholder 3"/>
          <p:cNvSpPr>
            <a:spLocks noGrp="1"/>
          </p:cNvSpPr>
          <p:nvPr>
            <p:ph type="sldNum" sz="quarter" idx="5"/>
          </p:nvPr>
        </p:nvSpPr>
        <p:spPr/>
        <p:txBody>
          <a:bodyPr/>
          <a:lstStyle/>
          <a:p>
            <a:fld id="{A957019E-F4A4-4968-85F6-64D7E022BA11}" type="slidenum">
              <a:rPr lang="en-SG" smtClean="0"/>
              <a:t>2</a:t>
            </a:fld>
            <a:endParaRPr lang="en-SG"/>
          </a:p>
        </p:txBody>
      </p:sp>
    </p:spTree>
    <p:extLst>
      <p:ext uri="{BB962C8B-B14F-4D97-AF65-F5344CB8AC3E}">
        <p14:creationId xmlns:p14="http://schemas.microsoft.com/office/powerpoint/2010/main" val="2204055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Another use case: </a:t>
            </a:r>
          </a:p>
          <a:p>
            <a:r>
              <a:rPr lang="en-US" dirty="0"/>
              <a:t>ESG scores that we have worked with are from Morningstar</a:t>
            </a:r>
          </a:p>
          <a:p>
            <a:r>
              <a:rPr lang="en-US" dirty="0"/>
              <a:t>Not all companies have a rating, especially RSMEs</a:t>
            </a:r>
          </a:p>
          <a:p>
            <a:r>
              <a:rPr lang="en-US" dirty="0"/>
              <a:t>Formulate our own ESG score</a:t>
            </a:r>
          </a:p>
          <a:p>
            <a:endParaRPr lang="en-US" dirty="0"/>
          </a:p>
          <a:p>
            <a:r>
              <a:rPr lang="en-US" dirty="0"/>
              <a:t>Internally we have </a:t>
            </a:r>
            <a:r>
              <a:rPr lang="en-US" dirty="0" err="1"/>
              <a:t>ESGpedia</a:t>
            </a:r>
            <a:endParaRPr lang="en-US" dirty="0"/>
          </a:p>
          <a:p>
            <a:r>
              <a:rPr lang="en-US" dirty="0"/>
              <a:t>Sample</a:t>
            </a:r>
          </a:p>
          <a:p>
            <a:endParaRPr lang="en-US" dirty="0"/>
          </a:p>
          <a:p>
            <a:r>
              <a:rPr lang="en-US" dirty="0"/>
              <a:t>In the event the </a:t>
            </a:r>
            <a:r>
              <a:rPr lang="en-US" dirty="0" err="1"/>
              <a:t>ESGpedia</a:t>
            </a:r>
            <a:r>
              <a:rPr lang="en-US" dirty="0"/>
              <a:t> report is unavailable</a:t>
            </a:r>
          </a:p>
          <a:p>
            <a:r>
              <a:rPr lang="en-US" dirty="0"/>
              <a:t>Way to extract metrics from sustainability reports</a:t>
            </a:r>
          </a:p>
          <a:p>
            <a:r>
              <a:rPr lang="en-US" dirty="0"/>
              <a:t>- Usually biannually released</a:t>
            </a:r>
          </a:p>
          <a:p>
            <a:endParaRPr lang="en-US" dirty="0"/>
          </a:p>
          <a:p>
            <a:endParaRPr lang="en-US" dirty="0"/>
          </a:p>
        </p:txBody>
      </p:sp>
      <p:sp>
        <p:nvSpPr>
          <p:cNvPr id="4" name="Slide Number Placeholder 3"/>
          <p:cNvSpPr>
            <a:spLocks noGrp="1"/>
          </p:cNvSpPr>
          <p:nvPr>
            <p:ph type="sldNum" sz="quarter" idx="5"/>
          </p:nvPr>
        </p:nvSpPr>
        <p:spPr/>
        <p:txBody>
          <a:bodyPr/>
          <a:lstStyle/>
          <a:p>
            <a:fld id="{A957019E-F4A4-4968-85F6-64D7E022BA11}" type="slidenum">
              <a:rPr lang="en-SG" smtClean="0"/>
              <a:t>3</a:t>
            </a:fld>
            <a:endParaRPr lang="en-SG"/>
          </a:p>
        </p:txBody>
      </p:sp>
    </p:spTree>
    <p:extLst>
      <p:ext uri="{BB962C8B-B14F-4D97-AF65-F5344CB8AC3E}">
        <p14:creationId xmlns:p14="http://schemas.microsoft.com/office/powerpoint/2010/main" val="1086990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SG" dirty="0"/>
              <a:t>The text is parsed using a predefined list of ESG metrics</a:t>
            </a:r>
          </a:p>
          <a:p>
            <a:pPr>
              <a:buNone/>
            </a:pPr>
            <a:r>
              <a:rPr lang="en-SG" dirty="0"/>
              <a:t>The system then scans the document for explicit mentions of these metrics using keyword and regex-based pattern matching.</a:t>
            </a:r>
          </a:p>
          <a:p>
            <a:pPr>
              <a:buNone/>
            </a:pPr>
            <a:br>
              <a:rPr lang="en-SG" dirty="0"/>
            </a:br>
            <a:r>
              <a:rPr lang="en-SG" dirty="0"/>
              <a:t>If numerical values are clearly stated, the system directly extracts them and logs them into a structured table along with the extracted snippet .</a:t>
            </a:r>
          </a:p>
          <a:p>
            <a:pPr>
              <a:buNone/>
            </a:pPr>
            <a:endParaRPr lang="en-SG" dirty="0"/>
          </a:p>
          <a:p>
            <a:pPr>
              <a:buNone/>
            </a:pPr>
            <a:r>
              <a:rPr lang="en-SG" dirty="0"/>
              <a:t>When numbers aren’t directly reported, we apply NLP techniques such as named entity recognition (NER), co-reference resolution, and sentence-level semantic matching to infer values or flag sections for further human validation</a:t>
            </a:r>
          </a:p>
          <a:p>
            <a:endParaRPr lang="en-SG" dirty="0"/>
          </a:p>
          <a:p>
            <a:r>
              <a:rPr lang="en-SG" dirty="0"/>
              <a:t>For completeness, the output also stores supporting text and remarks.</a:t>
            </a:r>
          </a:p>
        </p:txBody>
      </p:sp>
      <p:sp>
        <p:nvSpPr>
          <p:cNvPr id="4" name="Slide Number Placeholder 3"/>
          <p:cNvSpPr>
            <a:spLocks noGrp="1"/>
          </p:cNvSpPr>
          <p:nvPr>
            <p:ph type="sldNum" sz="quarter" idx="5"/>
          </p:nvPr>
        </p:nvSpPr>
        <p:spPr/>
        <p:txBody>
          <a:bodyPr/>
          <a:lstStyle/>
          <a:p>
            <a:fld id="{A957019E-F4A4-4968-85F6-64D7E022BA11}" type="slidenum">
              <a:rPr lang="en-SG" smtClean="0"/>
              <a:t>4</a:t>
            </a:fld>
            <a:endParaRPr lang="en-SG"/>
          </a:p>
        </p:txBody>
      </p:sp>
    </p:spTree>
    <p:extLst>
      <p:ext uri="{BB962C8B-B14F-4D97-AF65-F5344CB8AC3E}">
        <p14:creationId xmlns:p14="http://schemas.microsoft.com/office/powerpoint/2010/main" val="1225389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 Chat-4o</a:t>
            </a:r>
          </a:p>
          <a:p>
            <a:endParaRPr lang="en-US" dirty="0"/>
          </a:p>
        </p:txBody>
      </p:sp>
      <p:sp>
        <p:nvSpPr>
          <p:cNvPr id="4" name="Slide Number Placeholder 3"/>
          <p:cNvSpPr>
            <a:spLocks noGrp="1"/>
          </p:cNvSpPr>
          <p:nvPr>
            <p:ph type="sldNum" sz="quarter" idx="5"/>
          </p:nvPr>
        </p:nvSpPr>
        <p:spPr/>
        <p:txBody>
          <a:bodyPr/>
          <a:lstStyle/>
          <a:p>
            <a:fld id="{A957019E-F4A4-4968-85F6-64D7E022BA11}" type="slidenum">
              <a:rPr lang="en-SG" smtClean="0"/>
              <a:t>5</a:t>
            </a:fld>
            <a:endParaRPr lang="en-SG"/>
          </a:p>
        </p:txBody>
      </p:sp>
    </p:spTree>
    <p:extLst>
      <p:ext uri="{BB962C8B-B14F-4D97-AF65-F5344CB8AC3E}">
        <p14:creationId xmlns:p14="http://schemas.microsoft.com/office/powerpoint/2010/main" val="1316178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57019E-F4A4-4968-85F6-64D7E022BA11}" type="slidenum">
              <a:rPr lang="en-SG" smtClean="0"/>
              <a:t>6</a:t>
            </a:fld>
            <a:endParaRPr lang="en-SG"/>
          </a:p>
        </p:txBody>
      </p:sp>
    </p:spTree>
    <p:extLst>
      <p:ext uri="{BB962C8B-B14F-4D97-AF65-F5344CB8AC3E}">
        <p14:creationId xmlns:p14="http://schemas.microsoft.com/office/powerpoint/2010/main" val="16979841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5288B3EB-F9F7-C740-BB9A-F0CE75052D7B}"/>
              </a:ext>
            </a:extLst>
          </p:cNvPr>
          <p:cNvSpPr>
            <a:spLocks noGrp="1"/>
          </p:cNvSpPr>
          <p:nvPr>
            <p:ph type="body" sz="quarter" idx="13" hasCustomPrompt="1"/>
          </p:nvPr>
        </p:nvSpPr>
        <p:spPr>
          <a:xfrm>
            <a:off x="585788" y="2559050"/>
            <a:ext cx="10082212" cy="652463"/>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Insert Date / Document Version</a:t>
            </a:r>
          </a:p>
        </p:txBody>
      </p:sp>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1198895"/>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1949419"/>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
        <p:nvSpPr>
          <p:cNvPr id="4" name="Footer Placeholder 3">
            <a:extLst>
              <a:ext uri="{FF2B5EF4-FFF2-40B4-BE49-F238E27FC236}">
                <a16:creationId xmlns:a16="http://schemas.microsoft.com/office/drawing/2014/main" id="{F08099C8-7697-9C4D-8D32-53526BB3ED8B}"/>
              </a:ext>
            </a:extLst>
          </p:cNvPr>
          <p:cNvSpPr>
            <a:spLocks noGrp="1"/>
          </p:cNvSpPr>
          <p:nvPr>
            <p:ph type="ftr" sz="quarter" idx="14"/>
          </p:nvPr>
        </p:nvSpPr>
        <p:spPr>
          <a:xfrm>
            <a:off x="6986556" y="117070"/>
            <a:ext cx="4966748" cy="360000"/>
          </a:xfrm>
        </p:spPr>
        <p:txBody>
          <a:bodyPr anchor="b" anchorCtr="0"/>
          <a:lstStyle>
            <a:lvl1pPr>
              <a:defRPr sz="1200">
                <a:solidFill>
                  <a:schemeClr val="tx1">
                    <a:lumMod val="95000"/>
                    <a:lumOff val="5000"/>
                  </a:schemeClr>
                </a:solidFill>
              </a:defRPr>
            </a:lvl1pPr>
          </a:lstStyle>
          <a:p>
            <a:endParaRPr lang="en-US" dirty="0"/>
          </a:p>
        </p:txBody>
      </p:sp>
      <p:sp>
        <p:nvSpPr>
          <p:cNvPr id="5" name="Slide Number Placeholder 4">
            <a:extLst>
              <a:ext uri="{FF2B5EF4-FFF2-40B4-BE49-F238E27FC236}">
                <a16:creationId xmlns:a16="http://schemas.microsoft.com/office/drawing/2014/main" id="{761F157F-E773-9E40-95D1-79F17798E5A0}"/>
              </a:ext>
            </a:extLst>
          </p:cNvPr>
          <p:cNvSpPr>
            <a:spLocks noGrp="1"/>
          </p:cNvSpPr>
          <p:nvPr>
            <p:ph type="sldNum" sz="quarter" idx="15"/>
          </p:nvPr>
        </p:nvSpPr>
        <p:spPr/>
        <p:txBody>
          <a:bodyPr/>
          <a:lstStyle/>
          <a:p>
            <a:fld id="{7C03E8FC-7EBD-BF42-9ED4-90D4B1E23A24}" type="slidenum">
              <a:rPr lang="en-US" smtClean="0"/>
              <a:pPr/>
              <a:t>‹#›</a:t>
            </a:fld>
            <a:endParaRPr lang="en-US" dirty="0"/>
          </a:p>
        </p:txBody>
      </p:sp>
      <p:sp>
        <p:nvSpPr>
          <p:cNvPr id="13" name="Rectangle 12"/>
          <p:cNvSpPr/>
          <p:nvPr userDrawn="1"/>
        </p:nvSpPr>
        <p:spPr>
          <a:xfrm>
            <a:off x="6986556" y="507887"/>
            <a:ext cx="5021766" cy="523220"/>
          </a:xfrm>
          <a:prstGeom prst="rect">
            <a:avLst/>
          </a:prstGeom>
        </p:spPr>
        <p:txBody>
          <a:bodyPr wrap="square">
            <a:spAutoFit/>
          </a:bodyPr>
          <a:lstStyle/>
          <a:p>
            <a:pPr algn="just"/>
            <a:r>
              <a:rPr lang="en-MY" sz="700" i="1" dirty="0"/>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Tree>
    <p:extLst>
      <p:ext uri="{BB962C8B-B14F-4D97-AF65-F5344CB8AC3E}">
        <p14:creationId xmlns:p14="http://schemas.microsoft.com/office/powerpoint/2010/main" val="161403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7E39-371E-3E4F-9B2B-838C37523B1B}"/>
              </a:ext>
            </a:extLst>
          </p:cNvPr>
          <p:cNvSpPr>
            <a:spLocks noGrp="1"/>
          </p:cNvSpPr>
          <p:nvPr>
            <p:ph type="ctrTitle"/>
          </p:nvPr>
        </p:nvSpPr>
        <p:spPr>
          <a:xfrm>
            <a:off x="585833" y="2157326"/>
            <a:ext cx="10082167" cy="719707"/>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E6BC8A-8225-4646-9D45-3F467B2F0056}"/>
              </a:ext>
            </a:extLst>
          </p:cNvPr>
          <p:cNvSpPr>
            <a:spLocks noGrp="1"/>
          </p:cNvSpPr>
          <p:nvPr>
            <p:ph type="subTitle" idx="1"/>
          </p:nvPr>
        </p:nvSpPr>
        <p:spPr>
          <a:xfrm>
            <a:off x="585833" y="2877504"/>
            <a:ext cx="10082167" cy="57827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0" name="Group 9">
            <a:extLst>
              <a:ext uri="{FF2B5EF4-FFF2-40B4-BE49-F238E27FC236}">
                <a16:creationId xmlns:a16="http://schemas.microsoft.com/office/drawing/2014/main" id="{A98975D2-EAD6-7C4A-BB27-8110683CB786}"/>
              </a:ext>
            </a:extLst>
          </p:cNvPr>
          <p:cNvGrpSpPr/>
          <p:nvPr userDrawn="1"/>
        </p:nvGrpSpPr>
        <p:grpSpPr>
          <a:xfrm>
            <a:off x="450360" y="3744893"/>
            <a:ext cx="2060103" cy="753352"/>
            <a:chOff x="450360" y="3744893"/>
            <a:chExt cx="2060103" cy="753352"/>
          </a:xfrm>
        </p:grpSpPr>
        <p:pic>
          <p:nvPicPr>
            <p:cNvPr id="11" name="Picture 10">
              <a:extLst>
                <a:ext uri="{FF2B5EF4-FFF2-40B4-BE49-F238E27FC236}">
                  <a16:creationId xmlns:a16="http://schemas.microsoft.com/office/drawing/2014/main" id="{F72CFCFB-D349-F245-99FE-E8ED5C4E2D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352" y="3744893"/>
              <a:ext cx="1837959" cy="498965"/>
            </a:xfrm>
            <a:prstGeom prst="rect">
              <a:avLst/>
            </a:prstGeom>
          </p:spPr>
        </p:pic>
        <p:sp>
          <p:nvSpPr>
            <p:cNvPr id="12" name="TextBox 11">
              <a:extLst>
                <a:ext uri="{FF2B5EF4-FFF2-40B4-BE49-F238E27FC236}">
                  <a16:creationId xmlns:a16="http://schemas.microsoft.com/office/drawing/2014/main" id="{935158BB-F8D5-B54D-B2ED-0168792F8B28}"/>
                </a:ext>
              </a:extLst>
            </p:cNvPr>
            <p:cNvSpPr txBox="1"/>
            <p:nvPr/>
          </p:nvSpPr>
          <p:spPr>
            <a:xfrm>
              <a:off x="450360" y="4244329"/>
              <a:ext cx="2060103" cy="253916"/>
            </a:xfrm>
            <a:prstGeom prst="rect">
              <a:avLst/>
            </a:prstGeom>
            <a:noFill/>
          </p:spPr>
          <p:txBody>
            <a:bodyPr wrap="square" rtlCol="0">
              <a:spAutoFit/>
            </a:bodyPr>
            <a:lstStyle/>
            <a:p>
              <a:pPr algn="r"/>
              <a:r>
                <a:rPr lang="en-US" sz="1050" dirty="0">
                  <a:latin typeface="Trebuchet MS" panose="020B0603020202020204" pitchFamily="34" charset="0"/>
                </a:rPr>
                <a:t>Humanising Financial Services</a:t>
              </a:r>
            </a:p>
          </p:txBody>
        </p:sp>
      </p:grpSp>
    </p:spTree>
    <p:extLst>
      <p:ext uri="{BB962C8B-B14F-4D97-AF65-F5344CB8AC3E}">
        <p14:creationId xmlns:p14="http://schemas.microsoft.com/office/powerpoint/2010/main" val="24056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68836-95DD-6444-8A3B-102219EAF7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sp>
        <p:nvSpPr>
          <p:cNvPr id="8" name="Text Placeholder 7"/>
          <p:cNvSpPr>
            <a:spLocks noGrp="1"/>
          </p:cNvSpPr>
          <p:nvPr>
            <p:ph type="body" sz="quarter" idx="13" hasCustomPrompt="1"/>
          </p:nvPr>
        </p:nvSpPr>
        <p:spPr>
          <a:xfrm>
            <a:off x="504825" y="6411593"/>
            <a:ext cx="2974975" cy="25241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1673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o pictur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p:nvPr>
        </p:nvSpPr>
        <p:spPr>
          <a:xfrm>
            <a:off x="4781550" y="2378075"/>
            <a:ext cx="6135688" cy="1389063"/>
          </a:xfrm>
        </p:spPr>
        <p:txBody>
          <a:bodyPr/>
          <a:lstStyle>
            <a:lvl1pPr marL="0" indent="0">
              <a:buNone/>
              <a:defRPr>
                <a:solidFill>
                  <a:srgbClr val="C0C0C8"/>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w/o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dirty="0"/>
          </a:p>
        </p:txBody>
      </p:sp>
      <p:grpSp>
        <p:nvGrpSpPr>
          <p:cNvPr id="7" name="Group 6">
            <a:extLst>
              <a:ext uri="{FF2B5EF4-FFF2-40B4-BE49-F238E27FC236}">
                <a16:creationId xmlns:a16="http://schemas.microsoft.com/office/drawing/2014/main" id="{ECDFFBDC-318D-3F4B-8882-A65DFD277D6F}"/>
              </a:ext>
            </a:extLst>
          </p:cNvPr>
          <p:cNvGrpSpPr/>
          <p:nvPr userDrawn="1"/>
        </p:nvGrpSpPr>
        <p:grpSpPr>
          <a:xfrm>
            <a:off x="1335505" y="1987277"/>
            <a:ext cx="2959768" cy="2825955"/>
            <a:chOff x="2743200" y="3200400"/>
            <a:chExt cx="3886200" cy="3886200"/>
          </a:xfrm>
        </p:grpSpPr>
        <p:sp>
          <p:nvSpPr>
            <p:cNvPr id="8" name="Oval 7">
              <a:extLst>
                <a:ext uri="{FF2B5EF4-FFF2-40B4-BE49-F238E27FC236}">
                  <a16:creationId xmlns:a16="http://schemas.microsoft.com/office/drawing/2014/main" id="{DA268088-0802-7149-8E40-18E4EE20A607}"/>
                </a:ext>
              </a:extLst>
            </p:cNvPr>
            <p:cNvSpPr/>
            <p:nvPr/>
          </p:nvSpPr>
          <p:spPr>
            <a:xfrm>
              <a:off x="2743200" y="3200400"/>
              <a:ext cx="3886200" cy="3886200"/>
            </a:xfrm>
            <a:prstGeom prst="ellipse">
              <a:avLst/>
            </a:prstGeom>
            <a:solidFill>
              <a:srgbClr val="FFC800"/>
            </a:solidFill>
            <a:ln w="254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54C67207-558A-2748-8761-EBE162DE7E71}"/>
                </a:ext>
              </a:extLst>
            </p:cNvPr>
            <p:cNvSpPr>
              <a:spLocks noEditPoints="1"/>
            </p:cNvSpPr>
            <p:nvPr/>
          </p:nvSpPr>
          <p:spPr bwMode="auto">
            <a:xfrm>
              <a:off x="4008516" y="4381500"/>
              <a:ext cx="1355568" cy="1266824"/>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solidFill>
              <a:srgbClr val="F2F2F5"/>
            </a:solidFill>
            <a:ln>
              <a:noFill/>
            </a:ln>
          </p:spPr>
          <p:txBody>
            <a:bodyPr vert="horz" wrap="square" lIns="91440" tIns="45720" rIns="91440" bIns="45720" numCol="1" anchor="t" anchorCtr="0" compatLnSpc="1">
              <a:prstTxWarp prst="textNoShape">
                <a:avLst/>
              </a:prstTxWarp>
            </a:bodyPr>
            <a:lstStyle/>
            <a:p>
              <a:pPr marL="0" marR="0" lvl="0" indent="0" defTabSz="1371600" eaLnBrk="1" fontAlgn="auto" latinLnBrk="0" hangingPunct="1">
                <a:lnSpc>
                  <a:spcPct val="100000"/>
                </a:lnSpc>
                <a:spcBef>
                  <a:spcPts val="0"/>
                </a:spcBef>
                <a:spcAft>
                  <a:spcPts val="0"/>
                </a:spcAft>
                <a:buClrTx/>
                <a:buSzTx/>
                <a:buFontTx/>
                <a:buNone/>
                <a:tabLst/>
                <a:defRPr/>
              </a:pPr>
              <a:endParaRPr kumimoji="0" lang="uk-UA" b="0" i="0" u="none" strike="noStrike" kern="0" cap="none" spc="0" normalizeH="0" baseline="0" noProof="0">
                <a:ln>
                  <a:noFill/>
                </a:ln>
                <a:solidFill>
                  <a:srgbClr val="0A091B"/>
                </a:solidFill>
                <a:effectLst/>
                <a:uLnTx/>
                <a:uFillTx/>
                <a:latin typeface="Trebuchet MS" panose="020B0603020202020204" pitchFamily="34" charset="0"/>
                <a:cs typeface="Arial" panose="020B0604020202020204" pitchFamily="34" charset="0"/>
              </a:endParaRPr>
            </a:p>
          </p:txBody>
        </p:sp>
      </p:grpSp>
      <p:sp>
        <p:nvSpPr>
          <p:cNvPr id="4" name="Text Placeholder 3"/>
          <p:cNvSpPr>
            <a:spLocks noGrp="1"/>
          </p:cNvSpPr>
          <p:nvPr>
            <p:ph type="body" sz="quarter" idx="14" hasCustomPrompt="1"/>
          </p:nvPr>
        </p:nvSpPr>
        <p:spPr>
          <a:xfrm>
            <a:off x="504825" y="6356350"/>
            <a:ext cx="30257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9869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750" fill="hold"/>
                                        <p:tgtEl>
                                          <p:spTgt spid="7"/>
                                        </p:tgtEl>
                                        <p:attrNameLst>
                                          <p:attrName>ppt_w</p:attrName>
                                        </p:attrNameLst>
                                      </p:cBhvr>
                                      <p:tavLst>
                                        <p:tav tm="0">
                                          <p:val>
                                            <p:fltVal val="0"/>
                                          </p:val>
                                        </p:tav>
                                        <p:tav tm="100000">
                                          <p:val>
                                            <p:strVal val="#ppt_w"/>
                                          </p:val>
                                        </p:tav>
                                      </p:tavLst>
                                    </p:anim>
                                    <p:anim calcmode="lin" valueType="num">
                                      <p:cBhvr>
                                        <p:cTn id="8" dur="750" fill="hold"/>
                                        <p:tgtEl>
                                          <p:spTgt spid="7"/>
                                        </p:tgtEl>
                                        <p:attrNameLst>
                                          <p:attrName>ppt_h</p:attrName>
                                        </p:attrNameLst>
                                      </p:cBhvr>
                                      <p:tavLst>
                                        <p:tav tm="0">
                                          <p:val>
                                            <p:fltVal val="0"/>
                                          </p:val>
                                        </p:tav>
                                        <p:tav tm="100000">
                                          <p:val>
                                            <p:strVal val="#ppt_h"/>
                                          </p:val>
                                        </p:tav>
                                      </p:tavLst>
                                    </p:anim>
                                    <p:anim calcmode="lin" valueType="num">
                                      <p:cBhvr>
                                        <p:cTn id="9" dur="750" fill="hold"/>
                                        <p:tgtEl>
                                          <p:spTgt spid="7"/>
                                        </p:tgtEl>
                                        <p:attrNameLst>
                                          <p:attrName>style.rotation</p:attrName>
                                        </p:attrNameLst>
                                      </p:cBhvr>
                                      <p:tavLst>
                                        <p:tav tm="0">
                                          <p:val>
                                            <p:fltVal val="360"/>
                                          </p:val>
                                        </p:tav>
                                        <p:tav tm="100000">
                                          <p:val>
                                            <p:fltVal val="0"/>
                                          </p:val>
                                        </p:tav>
                                      </p:tavLst>
                                    </p:anim>
                                    <p:animEffect transition="in" filter="fade">
                                      <p:cBhvr>
                                        <p:cTn id="10"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B390E-C77E-7C41-B22A-A0D2E61CCC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405" y="1532515"/>
            <a:ext cx="7315201" cy="4480309"/>
          </a:xfrm>
          <a:prstGeom prst="rect">
            <a:avLst/>
          </a:prstGeom>
          <a:effectLst>
            <a:outerShdw blurRad="190500" dist="76200" dir="5400000" algn="t" rotWithShape="0">
              <a:prstClr val="black">
                <a:alpha val="14000"/>
              </a:prstClr>
            </a:outerShdw>
          </a:effectLst>
        </p:spPr>
      </p:pic>
      <p:sp>
        <p:nvSpPr>
          <p:cNvPr id="11" name="Text Placeholder 10">
            <a:extLst>
              <a:ext uri="{FF2B5EF4-FFF2-40B4-BE49-F238E27FC236}">
                <a16:creationId xmlns:a16="http://schemas.microsoft.com/office/drawing/2014/main" id="{C19CAAEA-73C2-F242-89DF-673AAD3BE9B6}"/>
              </a:ext>
            </a:extLst>
          </p:cNvPr>
          <p:cNvSpPr>
            <a:spLocks noGrp="1"/>
          </p:cNvSpPr>
          <p:nvPr>
            <p:ph type="body" sz="quarter" idx="13" hasCustomPrompt="1"/>
          </p:nvPr>
        </p:nvSpPr>
        <p:spPr>
          <a:xfrm>
            <a:off x="6961792" y="2485939"/>
            <a:ext cx="4727700" cy="813316"/>
          </a:xfrm>
        </p:spPr>
        <p:txBody>
          <a:bodyPr anchor="b"/>
          <a:lstStyle>
            <a:lvl1pPr marL="0" indent="0">
              <a:buNone/>
              <a:defRPr>
                <a:solidFill>
                  <a:schemeClr val="tx1">
                    <a:lumMod val="95000"/>
                    <a:lumOff val="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
        <p:nvSpPr>
          <p:cNvPr id="5" name="Footer Placeholder 4">
            <a:extLst>
              <a:ext uri="{FF2B5EF4-FFF2-40B4-BE49-F238E27FC236}">
                <a16:creationId xmlns:a16="http://schemas.microsoft.com/office/drawing/2014/main" id="{9A3A49C1-9F07-0546-8795-7B7F6C43B296}"/>
              </a:ext>
            </a:extLst>
          </p:cNvPr>
          <p:cNvSpPr>
            <a:spLocks noGrp="1"/>
          </p:cNvSpPr>
          <p:nvPr>
            <p:ph type="ftr" sz="quarter" idx="11"/>
          </p:nvPr>
        </p:nvSpPr>
        <p:spPr>
          <a:xfrm>
            <a:off x="9278470" y="6356350"/>
            <a:ext cx="2196423" cy="360000"/>
          </a:xfrm>
        </p:spPr>
        <p:txBody>
          <a:bodyPr/>
          <a:lstStyle/>
          <a:p>
            <a:endParaRPr lang="en-US" dirty="0"/>
          </a:p>
        </p:txBody>
      </p:sp>
      <p:sp>
        <p:nvSpPr>
          <p:cNvPr id="2" name="Title 1">
            <a:extLst>
              <a:ext uri="{FF2B5EF4-FFF2-40B4-BE49-F238E27FC236}">
                <a16:creationId xmlns:a16="http://schemas.microsoft.com/office/drawing/2014/main" id="{F139850A-F6DE-1D46-9625-12E77732FE01}"/>
              </a:ext>
            </a:extLst>
          </p:cNvPr>
          <p:cNvSpPr>
            <a:spLocks noGrp="1"/>
          </p:cNvSpPr>
          <p:nvPr>
            <p:ph type="title" hasCustomPrompt="1"/>
          </p:nvPr>
        </p:nvSpPr>
        <p:spPr/>
        <p:txBody>
          <a:bodyPr/>
          <a:lstStyle>
            <a:lvl1pPr>
              <a:defRPr/>
            </a:lvl1pPr>
          </a:lstStyle>
          <a:p>
            <a:r>
              <a:rPr lang="en-US" dirty="0"/>
              <a:t>Divider with picture</a:t>
            </a:r>
          </a:p>
        </p:txBody>
      </p:sp>
      <p:sp>
        <p:nvSpPr>
          <p:cNvPr id="6" name="Slide Number Placeholder 5">
            <a:extLst>
              <a:ext uri="{FF2B5EF4-FFF2-40B4-BE49-F238E27FC236}">
                <a16:creationId xmlns:a16="http://schemas.microsoft.com/office/drawing/2014/main" id="{BC83759C-430A-DD4E-9729-2D88B7CF07AC}"/>
              </a:ext>
            </a:extLst>
          </p:cNvPr>
          <p:cNvSpPr>
            <a:spLocks noGrp="1"/>
          </p:cNvSpPr>
          <p:nvPr>
            <p:ph type="sldNum" sz="quarter" idx="12"/>
          </p:nvPr>
        </p:nvSpPr>
        <p:spPr>
          <a:xfrm>
            <a:off x="11508806" y="6356350"/>
            <a:ext cx="270000" cy="360000"/>
          </a:xfrm>
        </p:spPr>
        <p:txBody>
          <a:bodyPr/>
          <a:lstStyle/>
          <a:p>
            <a:fld id="{7C03E8FC-7EBD-BF42-9ED4-90D4B1E23A24}" type="slidenum">
              <a:rPr lang="en-US" smtClean="0"/>
              <a:t>‹#›</a:t>
            </a:fld>
            <a:endParaRPr lang="en-US"/>
          </a:p>
        </p:txBody>
      </p:sp>
      <p:sp>
        <p:nvSpPr>
          <p:cNvPr id="14" name="Picture Placeholder 13">
            <a:extLst>
              <a:ext uri="{FF2B5EF4-FFF2-40B4-BE49-F238E27FC236}">
                <a16:creationId xmlns:a16="http://schemas.microsoft.com/office/drawing/2014/main" id="{9E64B062-21B0-4D42-BAF2-3D88EA4ABB73}"/>
              </a:ext>
            </a:extLst>
          </p:cNvPr>
          <p:cNvSpPr>
            <a:spLocks noGrp="1"/>
          </p:cNvSpPr>
          <p:nvPr>
            <p:ph type="pic" sz="quarter" idx="14" hasCustomPrompt="1"/>
          </p:nvPr>
        </p:nvSpPr>
        <p:spPr>
          <a:xfrm>
            <a:off x="1012825" y="1964724"/>
            <a:ext cx="5437188" cy="3435951"/>
          </a:xfrm>
        </p:spPr>
        <p:txBody>
          <a:bodyPr anchor="ctr"/>
          <a:lstStyle>
            <a:lvl1pPr marL="0" indent="0" algn="ctr">
              <a:buNone/>
              <a:defRPr/>
            </a:lvl1pPr>
          </a:lstStyle>
          <a:p>
            <a:r>
              <a:rPr lang="en-US" dirty="0"/>
              <a:t>Insert Picture</a:t>
            </a:r>
          </a:p>
        </p:txBody>
      </p:sp>
      <p:sp>
        <p:nvSpPr>
          <p:cNvPr id="17" name="Text Placeholder 16">
            <a:extLst>
              <a:ext uri="{FF2B5EF4-FFF2-40B4-BE49-F238E27FC236}">
                <a16:creationId xmlns:a16="http://schemas.microsoft.com/office/drawing/2014/main" id="{263B176F-1D20-3E47-8649-209AA2AF26B0}"/>
              </a:ext>
            </a:extLst>
          </p:cNvPr>
          <p:cNvSpPr>
            <a:spLocks noGrp="1"/>
          </p:cNvSpPr>
          <p:nvPr>
            <p:ph type="body" sz="quarter" idx="15"/>
          </p:nvPr>
        </p:nvSpPr>
        <p:spPr>
          <a:xfrm>
            <a:off x="6961792" y="3435350"/>
            <a:ext cx="4725383" cy="1001713"/>
          </a:xfrm>
        </p:spPr>
        <p:txBody>
          <a:bodyPr>
            <a:noAutofit/>
          </a:bodyPr>
          <a:lstStyle>
            <a:lvl1pPr marL="0" indent="0">
              <a:buNone/>
              <a:defRPr sz="2000">
                <a:solidFill>
                  <a:srgbClr val="7F7F7F"/>
                </a:solidFill>
              </a:defRPr>
            </a:lvl1pPr>
            <a:lvl2pPr marL="457200" indent="0">
              <a:buNone/>
              <a:defRPr sz="2000">
                <a:solidFill>
                  <a:srgbClr val="7F7F7F"/>
                </a:solidFill>
              </a:defRPr>
            </a:lvl2pPr>
            <a:lvl3pPr marL="914400" indent="0">
              <a:buNone/>
              <a:defRPr sz="2000">
                <a:solidFill>
                  <a:srgbClr val="7F7F7F"/>
                </a:solidFill>
              </a:defRPr>
            </a:lvl3pPr>
            <a:lvl4pPr marL="1371600" indent="0">
              <a:buNone/>
              <a:defRPr sz="2000">
                <a:solidFill>
                  <a:srgbClr val="7F7F7F"/>
                </a:solidFill>
              </a:defRPr>
            </a:lvl4pPr>
            <a:lvl5pPr marL="1828800" indent="0">
              <a:buNone/>
              <a:defRPr sz="2000">
                <a:solidFill>
                  <a:srgbClr val="7F7F7F"/>
                </a:solidFill>
              </a:defRPr>
            </a:lvl5pPr>
          </a:lstStyle>
          <a:p>
            <a:pPr lvl="0"/>
            <a:r>
              <a:rPr lang="en-US"/>
              <a:t>Click to edit Master text styles</a:t>
            </a:r>
          </a:p>
        </p:txBody>
      </p:sp>
      <p:sp>
        <p:nvSpPr>
          <p:cNvPr id="7" name="Text Placeholder 6"/>
          <p:cNvSpPr>
            <a:spLocks noGrp="1"/>
          </p:cNvSpPr>
          <p:nvPr>
            <p:ph type="body" sz="quarter" idx="16" hasCustomPrompt="1"/>
          </p:nvPr>
        </p:nvSpPr>
        <p:spPr>
          <a:xfrm>
            <a:off x="504825" y="6451600"/>
            <a:ext cx="3419475" cy="406400"/>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61211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x Text + 1x Pic">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7204075" y="1062038"/>
            <a:ext cx="4484688" cy="5178425"/>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p:nvPr>
        </p:nvSpPr>
        <p:spPr>
          <a:xfrm>
            <a:off x="504825" y="250215"/>
            <a:ext cx="10412557" cy="584297"/>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465942" y="1302701"/>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841157"/>
            <a:ext cx="5891996" cy="4348506"/>
          </a:xfrm>
        </p:spPr>
        <p:txBody>
          <a:bodyPr>
            <a:normAutofit/>
          </a:bodyPr>
          <a:lstStyle>
            <a:lvl1pPr marL="0" indent="0">
              <a:buNone/>
              <a:defRPr sz="1200">
                <a:solidFill>
                  <a:srgbClr val="595959"/>
                </a:solidFill>
              </a:defRPr>
            </a:lvl1pPr>
            <a:lvl2pPr marL="457200" indent="0">
              <a:buNone/>
              <a:defRPr sz="1200">
                <a:solidFill>
                  <a:srgbClr val="595959"/>
                </a:solidFill>
              </a:defRPr>
            </a:lvl2pPr>
            <a:lvl3pPr marL="914400" indent="0">
              <a:buNone/>
              <a:defRPr sz="1200">
                <a:solidFill>
                  <a:srgbClr val="595959"/>
                </a:solidFill>
              </a:defRPr>
            </a:lvl3pPr>
            <a:lvl4pPr marL="1371600" indent="0">
              <a:buNone/>
              <a:defRPr sz="1200">
                <a:solidFill>
                  <a:srgbClr val="595959"/>
                </a:solidFill>
              </a:defRPr>
            </a:lvl4pPr>
            <a:lvl5pPr marL="1828800" indent="0">
              <a:buNone/>
              <a:defRPr sz="12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ext Placeholder 5"/>
          <p:cNvSpPr>
            <a:spLocks noGrp="1"/>
          </p:cNvSpPr>
          <p:nvPr>
            <p:ph type="body" sz="quarter" idx="14" hasCustomPrompt="1"/>
          </p:nvPr>
        </p:nvSpPr>
        <p:spPr>
          <a:xfrm>
            <a:off x="466725" y="6356350"/>
            <a:ext cx="3444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07163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project showcas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A2BBBA6-8747-8149-897F-5F4120F24E1E}"/>
              </a:ext>
            </a:extLst>
          </p:cNvPr>
          <p:cNvSpPr>
            <a:spLocks noGrp="1"/>
          </p:cNvSpPr>
          <p:nvPr>
            <p:ph type="body" sz="quarter" idx="16" hasCustomPrompt="1"/>
          </p:nvPr>
        </p:nvSpPr>
        <p:spPr>
          <a:xfrm>
            <a:off x="85588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15" name="Picture Placeholder 14">
            <a:extLst>
              <a:ext uri="{FF2B5EF4-FFF2-40B4-BE49-F238E27FC236}">
                <a16:creationId xmlns:a16="http://schemas.microsoft.com/office/drawing/2014/main" id="{EC31572B-B7C6-C044-91A0-A25424F1D6EC}"/>
              </a:ext>
            </a:extLst>
          </p:cNvPr>
          <p:cNvSpPr>
            <a:spLocks noGrp="1"/>
          </p:cNvSpPr>
          <p:nvPr>
            <p:ph type="pic" sz="quarter" idx="13"/>
          </p:nvPr>
        </p:nvSpPr>
        <p:spPr>
          <a:xfrm>
            <a:off x="4476000" y="1198518"/>
            <a:ext cx="3240000" cy="2520000"/>
          </a:xfrm>
        </p:spPr>
        <p:txBody>
          <a:bodyPr anchor="ctr"/>
          <a:lstStyle>
            <a:lvl1pPr marL="0" indent="0" algn="ctr">
              <a:buNone/>
              <a:defRPr/>
            </a:lvl1pPr>
          </a:lstStyle>
          <a:p>
            <a:r>
              <a:rPr lang="en-US"/>
              <a:t>Click icon to add picture</a:t>
            </a:r>
          </a:p>
        </p:txBody>
      </p:sp>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dirty="0"/>
              <a:t>3-column project showcase</a:t>
            </a:r>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85588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20" name="Picture Placeholder 14">
            <a:extLst>
              <a:ext uri="{FF2B5EF4-FFF2-40B4-BE49-F238E27FC236}">
                <a16:creationId xmlns:a16="http://schemas.microsoft.com/office/drawing/2014/main" id="{FC9E2B90-5A98-D947-A29D-1372DADDA8DA}"/>
              </a:ext>
            </a:extLst>
          </p:cNvPr>
          <p:cNvSpPr>
            <a:spLocks noGrp="1"/>
          </p:cNvSpPr>
          <p:nvPr>
            <p:ph type="pic" sz="quarter" idx="14"/>
          </p:nvPr>
        </p:nvSpPr>
        <p:spPr>
          <a:xfrm>
            <a:off x="855881" y="1198518"/>
            <a:ext cx="3240000" cy="2520000"/>
          </a:xfrm>
        </p:spPr>
        <p:txBody>
          <a:bodyPr anchor="ctr"/>
          <a:lstStyle>
            <a:lvl1pPr marL="0" indent="0" algn="ctr">
              <a:buNone/>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087033D-C8DB-864A-92FE-5CDCB4253B35}"/>
              </a:ext>
            </a:extLst>
          </p:cNvPr>
          <p:cNvSpPr>
            <a:spLocks noGrp="1"/>
          </p:cNvSpPr>
          <p:nvPr>
            <p:ph type="pic" sz="quarter" idx="15"/>
          </p:nvPr>
        </p:nvSpPr>
        <p:spPr>
          <a:xfrm>
            <a:off x="7992511" y="1198518"/>
            <a:ext cx="3240000" cy="2520000"/>
          </a:xfrm>
        </p:spPr>
        <p:txBody>
          <a:bodyPr anchor="ctr"/>
          <a:lstStyle>
            <a:lvl1pPr marL="0" indent="0" algn="ctr">
              <a:buNone/>
              <a:defRPr/>
            </a:lvl1pPr>
          </a:lstStyle>
          <a:p>
            <a:r>
              <a:rPr lang="en-US"/>
              <a:t>Click icon to add picture</a:t>
            </a:r>
            <a:endParaRPr lang="en-US" dirty="0"/>
          </a:p>
        </p:txBody>
      </p:sp>
      <p:sp>
        <p:nvSpPr>
          <p:cNvPr id="22" name="Text Placeholder 5">
            <a:extLst>
              <a:ext uri="{FF2B5EF4-FFF2-40B4-BE49-F238E27FC236}">
                <a16:creationId xmlns:a16="http://schemas.microsoft.com/office/drawing/2014/main" id="{57BA9409-A7B4-5147-B2B4-81AD8C98D8FE}"/>
              </a:ext>
            </a:extLst>
          </p:cNvPr>
          <p:cNvSpPr>
            <a:spLocks noGrp="1"/>
          </p:cNvSpPr>
          <p:nvPr>
            <p:ph type="body" sz="quarter" idx="17" hasCustomPrompt="1"/>
          </p:nvPr>
        </p:nvSpPr>
        <p:spPr>
          <a:xfrm>
            <a:off x="4476000"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3" name="Text Placeholder 2">
            <a:extLst>
              <a:ext uri="{FF2B5EF4-FFF2-40B4-BE49-F238E27FC236}">
                <a16:creationId xmlns:a16="http://schemas.microsoft.com/office/drawing/2014/main" id="{D142D9D1-526E-CC4D-8FE6-90CB7593C04F}"/>
              </a:ext>
            </a:extLst>
          </p:cNvPr>
          <p:cNvSpPr>
            <a:spLocks noGrp="1"/>
          </p:cNvSpPr>
          <p:nvPr>
            <p:ph type="body" idx="18" hasCustomPrompt="1"/>
          </p:nvPr>
        </p:nvSpPr>
        <p:spPr>
          <a:xfrm>
            <a:off x="4476000"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24" name="Text Placeholder 5">
            <a:extLst>
              <a:ext uri="{FF2B5EF4-FFF2-40B4-BE49-F238E27FC236}">
                <a16:creationId xmlns:a16="http://schemas.microsoft.com/office/drawing/2014/main" id="{0D9B4493-7B31-C644-B62E-32A90C658F44}"/>
              </a:ext>
            </a:extLst>
          </p:cNvPr>
          <p:cNvSpPr>
            <a:spLocks noGrp="1"/>
          </p:cNvSpPr>
          <p:nvPr>
            <p:ph type="body" sz="quarter" idx="19" hasCustomPrompt="1"/>
          </p:nvPr>
        </p:nvSpPr>
        <p:spPr>
          <a:xfrm>
            <a:off x="7992511" y="4184650"/>
            <a:ext cx="3240000" cy="1371600"/>
          </a:xfrm>
        </p:spPr>
        <p:txBody>
          <a:bodyPr lIns="0" tIns="0" rIns="0" bIns="0">
            <a:normAutofit/>
          </a:bodyPr>
          <a:lstStyle>
            <a:lvl1pPr marL="0" indent="0">
              <a:buNone/>
              <a:defRPr sz="1200">
                <a:solidFill>
                  <a:srgbClr val="6C6C6C"/>
                </a:solidFill>
              </a:defRPr>
            </a:lvl1pPr>
            <a:lvl2pPr marL="457200" indent="0">
              <a:buNone/>
              <a:defRPr sz="1200">
                <a:solidFill>
                  <a:srgbClr val="6C6C6C"/>
                </a:solidFill>
              </a:defRPr>
            </a:lvl2pPr>
            <a:lvl3pPr marL="914400" indent="0">
              <a:buNone/>
              <a:defRPr sz="1200">
                <a:solidFill>
                  <a:srgbClr val="6C6C6C"/>
                </a:solidFill>
              </a:defRPr>
            </a:lvl3pPr>
            <a:lvl4pPr marL="1371600" indent="0">
              <a:buNone/>
              <a:defRPr sz="1200">
                <a:solidFill>
                  <a:srgbClr val="6C6C6C"/>
                </a:solidFill>
              </a:defRPr>
            </a:lvl4pPr>
            <a:lvl5pPr marL="1828800" indent="0">
              <a:buNone/>
              <a:defRPr sz="1200">
                <a:solidFill>
                  <a:srgbClr val="6C6C6C"/>
                </a:solidFill>
              </a:defRPr>
            </a:lvl5pPr>
          </a:lstStyle>
          <a:p>
            <a:pPr lvl="0"/>
            <a:r>
              <a:rPr lang="en-US" dirty="0"/>
              <a:t>Edit Text</a:t>
            </a:r>
          </a:p>
        </p:txBody>
      </p:sp>
      <p:sp>
        <p:nvSpPr>
          <p:cNvPr id="25" name="Text Placeholder 2">
            <a:extLst>
              <a:ext uri="{FF2B5EF4-FFF2-40B4-BE49-F238E27FC236}">
                <a16:creationId xmlns:a16="http://schemas.microsoft.com/office/drawing/2014/main" id="{207568BA-2550-D849-9CC9-D47F24A15E41}"/>
              </a:ext>
            </a:extLst>
          </p:cNvPr>
          <p:cNvSpPr>
            <a:spLocks noGrp="1"/>
          </p:cNvSpPr>
          <p:nvPr>
            <p:ph type="body" idx="20" hasCustomPrompt="1"/>
          </p:nvPr>
        </p:nvSpPr>
        <p:spPr>
          <a:xfrm>
            <a:off x="7992511" y="3870396"/>
            <a:ext cx="3240000" cy="303677"/>
          </a:xfrm>
        </p:spPr>
        <p:txBody>
          <a:bodyPr lIns="0" tIns="0" rIns="0" bIns="0" anchor="b">
            <a:normAutofit/>
          </a:bodyPr>
          <a:lstStyle>
            <a:lvl1pPr marL="0" indent="0">
              <a:buNone/>
              <a:defRPr sz="2400" b="0">
                <a:solidFill>
                  <a:schemeClr val="tx1">
                    <a:lumMod val="95000"/>
                    <a:lumOff val="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header</a:t>
            </a:r>
          </a:p>
        </p:txBody>
      </p:sp>
      <p:sp>
        <p:nvSpPr>
          <p:cNvPr id="5" name="Text Placeholder 4"/>
          <p:cNvSpPr>
            <a:spLocks noGrp="1"/>
          </p:cNvSpPr>
          <p:nvPr>
            <p:ph type="body" sz="quarter" idx="21" hasCustomPrompt="1"/>
          </p:nvPr>
        </p:nvSpPr>
        <p:spPr>
          <a:xfrm>
            <a:off x="504825" y="6356350"/>
            <a:ext cx="33686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96836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Opt 01)">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834887"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p:txBody>
          <a:bodyPr/>
          <a:lstStyle>
            <a:lvl1pPr>
              <a:defRPr/>
            </a:lvl1pPr>
          </a:lstStyle>
          <a:p>
            <a:r>
              <a:rPr lang="en-US" sz="2800" dirty="0">
                <a:latin typeface="Trebuchet MS" panose="020B0603020202020204" pitchFamily="34" charset="0"/>
              </a:rPr>
              <a:t>Comparisons (opt 01)</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4" name="Text Placeholder 23">
            <a:extLst>
              <a:ext uri="{FF2B5EF4-FFF2-40B4-BE49-F238E27FC236}">
                <a16:creationId xmlns:a16="http://schemas.microsoft.com/office/drawing/2014/main" id="{F03422E6-CE47-5B4C-8C92-FA13F1EA2762}"/>
              </a:ext>
            </a:extLst>
          </p:cNvPr>
          <p:cNvSpPr>
            <a:spLocks noGrp="1"/>
          </p:cNvSpPr>
          <p:nvPr>
            <p:ph type="body" sz="quarter" idx="14" hasCustomPrompt="1"/>
          </p:nvPr>
        </p:nvSpPr>
        <p:spPr>
          <a:xfrm>
            <a:off x="581891"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834886"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1">
            <a:extLst>
              <a:ext uri="{FF2B5EF4-FFF2-40B4-BE49-F238E27FC236}">
                <a16:creationId xmlns:a16="http://schemas.microsoft.com/office/drawing/2014/main" id="{FF0BFB3C-8987-A449-857D-BE505C75ABED}"/>
              </a:ext>
            </a:extLst>
          </p:cNvPr>
          <p:cNvSpPr>
            <a:spLocks noGrp="1"/>
          </p:cNvSpPr>
          <p:nvPr>
            <p:ph type="body" sz="quarter" idx="16" hasCustomPrompt="1"/>
          </p:nvPr>
        </p:nvSpPr>
        <p:spPr>
          <a:xfrm>
            <a:off x="4742858" y="1302547"/>
            <a:ext cx="3060000" cy="612000"/>
          </a:xfrm>
          <a:prstGeom prst="roundRect">
            <a:avLst/>
          </a:prstGeom>
          <a:ln w="12700">
            <a:solidFill>
              <a:srgbClr val="FFBB13"/>
            </a:solidFill>
          </a:ln>
        </p:spPr>
        <p:txBody>
          <a:bodyPr anchor="ctr">
            <a:normAutofit/>
          </a:bodyPr>
          <a:lstStyle>
            <a:lvl1pPr marL="357188" indent="0">
              <a:buNone/>
              <a:tabLst/>
              <a:defRPr sz="1800" b="1">
                <a:solidFill>
                  <a:schemeClr val="tx1">
                    <a:lumMod val="95000"/>
                    <a:lumOff val="5000"/>
                  </a:schemeClr>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29" name="Text Placeholder 23">
            <a:extLst>
              <a:ext uri="{FF2B5EF4-FFF2-40B4-BE49-F238E27FC236}">
                <a16:creationId xmlns:a16="http://schemas.microsoft.com/office/drawing/2014/main" id="{6C59BA92-114B-CA46-8F65-30948BB2E36E}"/>
              </a:ext>
            </a:extLst>
          </p:cNvPr>
          <p:cNvSpPr>
            <a:spLocks noGrp="1"/>
          </p:cNvSpPr>
          <p:nvPr>
            <p:ph type="body" sz="quarter" idx="17" hasCustomPrompt="1"/>
          </p:nvPr>
        </p:nvSpPr>
        <p:spPr>
          <a:xfrm>
            <a:off x="4489862" y="1302547"/>
            <a:ext cx="612000" cy="612000"/>
          </a:xfrm>
          <a:prstGeom prst="ellipse">
            <a:avLst/>
          </a:prstGeom>
          <a:solidFill>
            <a:srgbClr val="FEBC11"/>
          </a:solidFill>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0" name="Text Placeholder 25">
            <a:extLst>
              <a:ext uri="{FF2B5EF4-FFF2-40B4-BE49-F238E27FC236}">
                <a16:creationId xmlns:a16="http://schemas.microsoft.com/office/drawing/2014/main" id="{B16A439E-D494-B345-A2DC-0ED9729C73AF}"/>
              </a:ext>
            </a:extLst>
          </p:cNvPr>
          <p:cNvSpPr>
            <a:spLocks noGrp="1"/>
          </p:cNvSpPr>
          <p:nvPr>
            <p:ph type="body" sz="quarter" idx="18"/>
          </p:nvPr>
        </p:nvSpPr>
        <p:spPr>
          <a:xfrm>
            <a:off x="4742857"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21">
            <a:extLst>
              <a:ext uri="{FF2B5EF4-FFF2-40B4-BE49-F238E27FC236}">
                <a16:creationId xmlns:a16="http://schemas.microsoft.com/office/drawing/2014/main" id="{AC3AA84A-179B-C44A-A390-FBE7CF18792C}"/>
              </a:ext>
            </a:extLst>
          </p:cNvPr>
          <p:cNvSpPr>
            <a:spLocks noGrp="1"/>
          </p:cNvSpPr>
          <p:nvPr>
            <p:ph type="body" sz="quarter" idx="19" hasCustomPrompt="1"/>
          </p:nvPr>
        </p:nvSpPr>
        <p:spPr>
          <a:xfrm>
            <a:off x="8740609" y="1302547"/>
            <a:ext cx="3060000" cy="612000"/>
          </a:xfrm>
          <a:prstGeom prst="roundRect">
            <a:avLst/>
          </a:prstGeom>
          <a:solidFill>
            <a:srgbClr val="FEBC11"/>
          </a:solidFill>
          <a:ln w="12700">
            <a:solidFill>
              <a:srgbClr val="FFBB13"/>
            </a:solidFill>
          </a:ln>
        </p:spPr>
        <p:txBody>
          <a:bodyPr anchor="ctr">
            <a:normAutofit/>
          </a:bodyPr>
          <a:lstStyle>
            <a:lvl1pPr marL="357188" indent="0">
              <a:buNone/>
              <a:tabLst/>
              <a:defRPr sz="1800" b="1">
                <a:solidFill>
                  <a:schemeClr val="bg1"/>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dirty="0"/>
              <a:t>Header</a:t>
            </a:r>
          </a:p>
        </p:txBody>
      </p:sp>
      <p:sp>
        <p:nvSpPr>
          <p:cNvPr id="37" name="Text Placeholder 23">
            <a:extLst>
              <a:ext uri="{FF2B5EF4-FFF2-40B4-BE49-F238E27FC236}">
                <a16:creationId xmlns:a16="http://schemas.microsoft.com/office/drawing/2014/main" id="{DB0369DC-C42C-BC44-B24A-FD8EE3F70AB4}"/>
              </a:ext>
            </a:extLst>
          </p:cNvPr>
          <p:cNvSpPr>
            <a:spLocks noGrp="1"/>
          </p:cNvSpPr>
          <p:nvPr>
            <p:ph type="body" sz="quarter" idx="20" hasCustomPrompt="1"/>
          </p:nvPr>
        </p:nvSpPr>
        <p:spPr>
          <a:xfrm>
            <a:off x="8487613" y="1302547"/>
            <a:ext cx="612000" cy="612000"/>
          </a:xfrm>
          <a:prstGeom prst="ellipse">
            <a:avLst/>
          </a:prstGeom>
          <a:solidFill>
            <a:srgbClr val="FEBC11"/>
          </a:solidFill>
          <a:ln w="25400">
            <a:solidFill>
              <a:schemeClr val="bg1"/>
            </a:solidFill>
          </a:ln>
        </p:spPr>
        <p:txBody>
          <a:bodyPr lIns="0" tIns="0" rIns="0" bIns="0" anchor="ctr">
            <a:normAutofit/>
          </a:bodyPr>
          <a:lstStyle>
            <a:lvl1pPr marL="0" indent="0" algn="ctr">
              <a:buNone/>
              <a:defRPr sz="1600" b="1">
                <a:solidFill>
                  <a:schemeClr val="bg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stStyle>
          <a:p>
            <a:pPr lvl="0"/>
            <a:r>
              <a:rPr lang="en-US" dirty="0"/>
              <a:t>##</a:t>
            </a:r>
          </a:p>
        </p:txBody>
      </p:sp>
      <p:sp>
        <p:nvSpPr>
          <p:cNvPr id="38" name="Text Placeholder 25">
            <a:extLst>
              <a:ext uri="{FF2B5EF4-FFF2-40B4-BE49-F238E27FC236}">
                <a16:creationId xmlns:a16="http://schemas.microsoft.com/office/drawing/2014/main" id="{E4A1293A-D1F4-1941-A787-F87122B6427B}"/>
              </a:ext>
            </a:extLst>
          </p:cNvPr>
          <p:cNvSpPr>
            <a:spLocks noGrp="1"/>
          </p:cNvSpPr>
          <p:nvPr>
            <p:ph type="body" sz="quarter" idx="21"/>
          </p:nvPr>
        </p:nvSpPr>
        <p:spPr>
          <a:xfrm>
            <a:off x="8740608" y="2100030"/>
            <a:ext cx="2975113" cy="4047676"/>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quarter" idx="22" hasCustomPrompt="1"/>
          </p:nvPr>
        </p:nvSpPr>
        <p:spPr>
          <a:xfrm>
            <a:off x="406400" y="6356350"/>
            <a:ext cx="3403600"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380601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s - with image / chart / icon (opt 02)">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4BD3B939-3B16-F441-83B2-1414FC3CE098}"/>
              </a:ext>
            </a:extLst>
          </p:cNvPr>
          <p:cNvSpPr>
            <a:spLocks noGrp="1"/>
          </p:cNvSpPr>
          <p:nvPr>
            <p:ph type="body" sz="quarter" idx="13" hasCustomPrompt="1"/>
          </p:nvPr>
        </p:nvSpPr>
        <p:spPr>
          <a:xfrm>
            <a:off x="504825"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6" name="Footer Placeholder 5">
            <a:extLst>
              <a:ext uri="{FF2B5EF4-FFF2-40B4-BE49-F238E27FC236}">
                <a16:creationId xmlns:a16="http://schemas.microsoft.com/office/drawing/2014/main" id="{12BBE763-1218-9947-9A47-DF757A782627}"/>
              </a:ext>
            </a:extLst>
          </p:cNvPr>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1CBDDC26-D28A-CC47-A903-3215875BC210}"/>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Comparisons - with image / chart / icon (opt 02)</a:t>
            </a:r>
            <a:endParaRPr lang="en-US" dirty="0"/>
          </a:p>
        </p:txBody>
      </p:sp>
      <p:sp>
        <p:nvSpPr>
          <p:cNvPr id="7" name="Slide Number Placeholder 6">
            <a:extLst>
              <a:ext uri="{FF2B5EF4-FFF2-40B4-BE49-F238E27FC236}">
                <a16:creationId xmlns:a16="http://schemas.microsoft.com/office/drawing/2014/main" id="{3F94BA0A-67FA-4247-9601-DC5CB851E8D1}"/>
              </a:ext>
            </a:extLst>
          </p:cNvPr>
          <p:cNvSpPr>
            <a:spLocks noGrp="1"/>
          </p:cNvSpPr>
          <p:nvPr>
            <p:ph type="sldNum" sz="quarter" idx="12"/>
          </p:nvPr>
        </p:nvSpPr>
        <p:spPr/>
        <p:txBody>
          <a:bodyPr/>
          <a:lstStyle/>
          <a:p>
            <a:fld id="{7C03E8FC-7EBD-BF42-9ED4-90D4B1E23A24}" type="slidenum">
              <a:rPr lang="en-US" smtClean="0"/>
              <a:t>‹#›</a:t>
            </a:fld>
            <a:endParaRPr lang="en-US"/>
          </a:p>
        </p:txBody>
      </p:sp>
      <p:pic>
        <p:nvPicPr>
          <p:cNvPr id="8" name="Picture 7">
            <a:extLst>
              <a:ext uri="{FF2B5EF4-FFF2-40B4-BE49-F238E27FC236}">
                <a16:creationId xmlns:a16="http://schemas.microsoft.com/office/drawing/2014/main" id="{2A57548A-77DE-7545-8751-659741700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66277" y="213615"/>
            <a:ext cx="620897" cy="620897"/>
          </a:xfrm>
          <a:prstGeom prst="rect">
            <a:avLst/>
          </a:prstGeom>
        </p:spPr>
      </p:pic>
      <p:sp>
        <p:nvSpPr>
          <p:cNvPr id="26" name="Text Placeholder 25">
            <a:extLst>
              <a:ext uri="{FF2B5EF4-FFF2-40B4-BE49-F238E27FC236}">
                <a16:creationId xmlns:a16="http://schemas.microsoft.com/office/drawing/2014/main" id="{278BC178-06E1-BF4D-98E6-06661E7FB494}"/>
              </a:ext>
            </a:extLst>
          </p:cNvPr>
          <p:cNvSpPr>
            <a:spLocks noGrp="1"/>
          </p:cNvSpPr>
          <p:nvPr>
            <p:ph type="body" sz="quarter" idx="15"/>
          </p:nvPr>
        </p:nvSpPr>
        <p:spPr>
          <a:xfrm>
            <a:off x="504825"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F6BE7-BA67-1B46-8163-B7A3DFBB32E9}"/>
              </a:ext>
            </a:extLst>
          </p:cNvPr>
          <p:cNvSpPr>
            <a:spLocks noGrp="1"/>
          </p:cNvSpPr>
          <p:nvPr>
            <p:ph sz="quarter" idx="21" hasCustomPrompt="1"/>
          </p:nvPr>
        </p:nvSpPr>
        <p:spPr>
          <a:xfrm>
            <a:off x="504825"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19" name="Text Placeholder 21">
            <a:extLst>
              <a:ext uri="{FF2B5EF4-FFF2-40B4-BE49-F238E27FC236}">
                <a16:creationId xmlns:a16="http://schemas.microsoft.com/office/drawing/2014/main" id="{072E3C89-2DC2-D745-AC1A-40F655B2CE22}"/>
              </a:ext>
            </a:extLst>
          </p:cNvPr>
          <p:cNvSpPr>
            <a:spLocks noGrp="1"/>
          </p:cNvSpPr>
          <p:nvPr>
            <p:ph type="body" sz="quarter" idx="22" hasCustomPrompt="1"/>
          </p:nvPr>
        </p:nvSpPr>
        <p:spPr>
          <a:xfrm>
            <a:off x="4331237"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0" name="Text Placeholder 25">
            <a:extLst>
              <a:ext uri="{FF2B5EF4-FFF2-40B4-BE49-F238E27FC236}">
                <a16:creationId xmlns:a16="http://schemas.microsoft.com/office/drawing/2014/main" id="{5565FFAC-83E0-5641-B638-1A58E427F71E}"/>
              </a:ext>
            </a:extLst>
          </p:cNvPr>
          <p:cNvSpPr>
            <a:spLocks noGrp="1"/>
          </p:cNvSpPr>
          <p:nvPr>
            <p:ph type="body" sz="quarter" idx="23"/>
          </p:nvPr>
        </p:nvSpPr>
        <p:spPr>
          <a:xfrm>
            <a:off x="4331237"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3">
            <a:extLst>
              <a:ext uri="{FF2B5EF4-FFF2-40B4-BE49-F238E27FC236}">
                <a16:creationId xmlns:a16="http://schemas.microsoft.com/office/drawing/2014/main" id="{793719C8-1987-8A4C-A63E-B740FD53052B}"/>
              </a:ext>
            </a:extLst>
          </p:cNvPr>
          <p:cNvSpPr>
            <a:spLocks noGrp="1"/>
          </p:cNvSpPr>
          <p:nvPr>
            <p:ph sz="quarter" idx="24" hasCustomPrompt="1"/>
          </p:nvPr>
        </p:nvSpPr>
        <p:spPr>
          <a:xfrm>
            <a:off x="4331237"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23" name="Text Placeholder 21">
            <a:extLst>
              <a:ext uri="{FF2B5EF4-FFF2-40B4-BE49-F238E27FC236}">
                <a16:creationId xmlns:a16="http://schemas.microsoft.com/office/drawing/2014/main" id="{3EBF9622-0B52-5D4E-BF04-71D838A7A6A4}"/>
              </a:ext>
            </a:extLst>
          </p:cNvPr>
          <p:cNvSpPr>
            <a:spLocks noGrp="1"/>
          </p:cNvSpPr>
          <p:nvPr>
            <p:ph type="body" sz="quarter" idx="25" hasCustomPrompt="1"/>
          </p:nvPr>
        </p:nvSpPr>
        <p:spPr>
          <a:xfrm>
            <a:off x="8157650" y="1012874"/>
            <a:ext cx="3600000" cy="468000"/>
          </a:xfrm>
          <a:prstGeom prst="rect">
            <a:avLst/>
          </a:prstGeom>
          <a:solidFill>
            <a:srgbClr val="EEECED"/>
          </a:solidFill>
          <a:ln w="12700">
            <a:noFill/>
          </a:ln>
        </p:spPr>
        <p:txBody>
          <a:bodyPr anchor="ctr">
            <a:normAutofit/>
          </a:bodyPr>
          <a:lstStyle>
            <a:lvl1pPr marL="12700" indent="0" algn="ctr">
              <a:buNone/>
              <a:tabLst/>
              <a:defRPr sz="1600" b="1">
                <a:solidFill>
                  <a:srgbClr val="595959"/>
                </a:solidFill>
              </a:defRPr>
            </a:lvl1pPr>
            <a:lvl2pPr marL="457200" indent="0">
              <a:buNone/>
              <a:defRPr sz="1800">
                <a:solidFill>
                  <a:schemeClr val="tx1">
                    <a:lumMod val="95000"/>
                    <a:lumOff val="5000"/>
                  </a:schemeClr>
                </a:solidFill>
              </a:defRPr>
            </a:lvl2pPr>
            <a:lvl3pPr marL="914400" indent="0">
              <a:buNone/>
              <a:defRPr sz="1800">
                <a:solidFill>
                  <a:schemeClr val="tx1">
                    <a:lumMod val="95000"/>
                    <a:lumOff val="5000"/>
                  </a:schemeClr>
                </a:solidFill>
              </a:defRPr>
            </a:lvl3pPr>
            <a:lvl4pPr marL="1371600" indent="0">
              <a:buNone/>
              <a:defRPr sz="1800">
                <a:solidFill>
                  <a:schemeClr val="tx1">
                    <a:lumMod val="95000"/>
                    <a:lumOff val="5000"/>
                  </a:schemeClr>
                </a:solidFill>
              </a:defRPr>
            </a:lvl4pPr>
            <a:lvl5pPr marL="1828800" indent="0">
              <a:buNone/>
              <a:defRPr sz="1800">
                <a:solidFill>
                  <a:schemeClr val="tx1">
                    <a:lumMod val="95000"/>
                    <a:lumOff val="5000"/>
                  </a:schemeClr>
                </a:solidFill>
              </a:defRPr>
            </a:lvl5pPr>
          </a:lstStyle>
          <a:p>
            <a:pPr lvl="0"/>
            <a:r>
              <a:rPr lang="en-US"/>
              <a:t>Header</a:t>
            </a:r>
            <a:endParaRPr lang="en-US" dirty="0"/>
          </a:p>
        </p:txBody>
      </p:sp>
      <p:sp>
        <p:nvSpPr>
          <p:cNvPr id="25" name="Text Placeholder 25">
            <a:extLst>
              <a:ext uri="{FF2B5EF4-FFF2-40B4-BE49-F238E27FC236}">
                <a16:creationId xmlns:a16="http://schemas.microsoft.com/office/drawing/2014/main" id="{DAA0B8D7-4C30-1648-86CE-0F510E7EB760}"/>
              </a:ext>
            </a:extLst>
          </p:cNvPr>
          <p:cNvSpPr>
            <a:spLocks noGrp="1"/>
          </p:cNvSpPr>
          <p:nvPr>
            <p:ph type="body" sz="quarter" idx="26"/>
          </p:nvPr>
        </p:nvSpPr>
        <p:spPr>
          <a:xfrm>
            <a:off x="8157650" y="2869808"/>
            <a:ext cx="3600000" cy="3420000"/>
          </a:xfrm>
          <a:solidFill>
            <a:srgbClr val="FCFDE9"/>
          </a:solidFill>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3">
            <a:extLst>
              <a:ext uri="{FF2B5EF4-FFF2-40B4-BE49-F238E27FC236}">
                <a16:creationId xmlns:a16="http://schemas.microsoft.com/office/drawing/2014/main" id="{6C08569C-0B31-6C47-AAB3-3B9388505ED4}"/>
              </a:ext>
            </a:extLst>
          </p:cNvPr>
          <p:cNvSpPr>
            <a:spLocks noGrp="1"/>
          </p:cNvSpPr>
          <p:nvPr>
            <p:ph sz="quarter" idx="27" hasCustomPrompt="1"/>
          </p:nvPr>
        </p:nvSpPr>
        <p:spPr>
          <a:xfrm>
            <a:off x="8157650" y="1631950"/>
            <a:ext cx="3600000" cy="1080000"/>
          </a:xfr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Insert Picture</a:t>
            </a:r>
          </a:p>
        </p:txBody>
      </p:sp>
      <p:sp>
        <p:nvSpPr>
          <p:cNvPr id="5" name="Text Placeholder 4"/>
          <p:cNvSpPr>
            <a:spLocks noGrp="1"/>
          </p:cNvSpPr>
          <p:nvPr>
            <p:ph type="body" sz="quarter" idx="28" hasCustomPrompt="1"/>
          </p:nvPr>
        </p:nvSpPr>
        <p:spPr>
          <a:xfrm>
            <a:off x="504825" y="6356350"/>
            <a:ext cx="39528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1730256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layout with cop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E9578D3-73F5-4B45-880E-D728A04E5519}"/>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E8EB04BC-3E8E-2741-8C53-EE2B482A6F48}"/>
              </a:ext>
            </a:extLst>
          </p:cNvPr>
          <p:cNvSpPr>
            <a:spLocks noGrp="1"/>
          </p:cNvSpPr>
          <p:nvPr>
            <p:ph type="title" hasCustomPrompt="1"/>
          </p:nvPr>
        </p:nvSpPr>
        <p:spPr>
          <a:xfrm>
            <a:off x="504825" y="250215"/>
            <a:ext cx="10412557" cy="584297"/>
          </a:xfrm>
        </p:spPr>
        <p:txBody>
          <a:bodyPr/>
          <a:lstStyle>
            <a:lvl1pPr>
              <a:defRPr/>
            </a:lvl1pPr>
          </a:lstStyle>
          <a:p>
            <a:r>
              <a:rPr lang="en-US" sz="2800" dirty="0">
                <a:latin typeface="Trebuchet MS" panose="020B0603020202020204" pitchFamily="34" charset="0"/>
              </a:rPr>
              <a:t>Table layout with copy</a:t>
            </a:r>
            <a:endParaRPr lang="en-US" dirty="0"/>
          </a:p>
        </p:txBody>
      </p:sp>
      <p:sp>
        <p:nvSpPr>
          <p:cNvPr id="3" name="Text Placeholder 2">
            <a:extLst>
              <a:ext uri="{FF2B5EF4-FFF2-40B4-BE49-F238E27FC236}">
                <a16:creationId xmlns:a16="http://schemas.microsoft.com/office/drawing/2014/main" id="{EC316D93-A762-F242-A2EA-25CE18AA65CA}"/>
              </a:ext>
            </a:extLst>
          </p:cNvPr>
          <p:cNvSpPr>
            <a:spLocks noGrp="1"/>
          </p:cNvSpPr>
          <p:nvPr>
            <p:ph type="body" idx="1" hasCustomPrompt="1"/>
          </p:nvPr>
        </p:nvSpPr>
        <p:spPr>
          <a:xfrm>
            <a:off x="1422545" y="-640493"/>
            <a:ext cx="5891996" cy="303677"/>
          </a:xfrm>
        </p:spPr>
        <p:txBody>
          <a:bodyPr anchor="b">
            <a:normAutofit/>
          </a:bodyPr>
          <a:lstStyle>
            <a:lvl1pPr marL="0" indent="0">
              <a:buNone/>
              <a:defRPr sz="1400" b="1">
                <a:solidFill>
                  <a:srgbClr val="59595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EAF8B3DA-4F87-9E44-9E87-E64D2C891546}"/>
              </a:ext>
            </a:extLst>
          </p:cNvPr>
          <p:cNvSpPr>
            <a:spLocks noGrp="1"/>
          </p:cNvSpPr>
          <p:nvPr>
            <p:ph sz="half" idx="2"/>
          </p:nvPr>
        </p:nvSpPr>
        <p:spPr>
          <a:xfrm>
            <a:off x="465942" y="1653951"/>
            <a:ext cx="3346403" cy="2831544"/>
          </a:xfrm>
        </p:spPr>
        <p:txBody>
          <a:bodyPr>
            <a:normAutofit/>
          </a:bodyPr>
          <a:lstStyle>
            <a:lvl1pPr marL="0" indent="0">
              <a:buNone/>
              <a:defRPr sz="1800">
                <a:solidFill>
                  <a:schemeClr val="tx1">
                    <a:lumMod val="85000"/>
                    <a:lumOff val="15000"/>
                  </a:schemeClr>
                </a:solidFill>
              </a:defRPr>
            </a:lvl1pPr>
            <a:lvl2pPr marL="180975" indent="-168275">
              <a:buFont typeface="Arial" panose="020B0604020202020204" pitchFamily="34" charset="0"/>
              <a:buChar char="•"/>
              <a:tabLst/>
              <a:defRPr sz="1600">
                <a:solidFill>
                  <a:schemeClr val="tx1">
                    <a:lumMod val="85000"/>
                    <a:lumOff val="15000"/>
                  </a:schemeClr>
                </a:solidFill>
              </a:defRPr>
            </a:lvl2pPr>
            <a:lvl3pPr marL="361950" indent="-139700">
              <a:buFont typeface="Arial" panose="020B0604020202020204" pitchFamily="34" charset="0"/>
              <a:buChar char="•"/>
              <a:tabLst/>
              <a:defRPr sz="1400">
                <a:solidFill>
                  <a:schemeClr val="tx1">
                    <a:lumMod val="85000"/>
                    <a:lumOff val="15000"/>
                  </a:schemeClr>
                </a:solidFill>
              </a:defRPr>
            </a:lvl3pPr>
            <a:lvl4pPr marL="501650" indent="-139700">
              <a:buFont typeface="Arial" panose="020B0604020202020204" pitchFamily="34" charset="0"/>
              <a:buChar char="•"/>
              <a:tabLst/>
              <a:defRPr sz="1200">
                <a:solidFill>
                  <a:schemeClr val="tx1">
                    <a:lumMod val="85000"/>
                    <a:lumOff val="15000"/>
                  </a:schemeClr>
                </a:solidFill>
              </a:defRPr>
            </a:lvl4pPr>
            <a:lvl5pPr marL="668338" indent="-166688">
              <a:buFont typeface="Arial" panose="020B0604020202020204" pitchFamily="34" charset="0"/>
              <a:buChar char="•"/>
              <a:tabLst/>
              <a:defRPr sz="10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3486B81E-3E88-4647-9E8D-B2561FD3D768}"/>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6" name="Table Placeholder 5">
            <a:extLst>
              <a:ext uri="{FF2B5EF4-FFF2-40B4-BE49-F238E27FC236}">
                <a16:creationId xmlns:a16="http://schemas.microsoft.com/office/drawing/2014/main" id="{804F53D6-FE15-014B-8637-4816D8C8D57E}"/>
              </a:ext>
            </a:extLst>
          </p:cNvPr>
          <p:cNvSpPr>
            <a:spLocks noGrp="1"/>
          </p:cNvSpPr>
          <p:nvPr>
            <p:ph type="tbl" sz="quarter" idx="13"/>
          </p:nvPr>
        </p:nvSpPr>
        <p:spPr>
          <a:xfrm>
            <a:off x="3955805" y="1605397"/>
            <a:ext cx="7705970" cy="4387416"/>
          </a:xfrm>
        </p:spPr>
        <p:txBody>
          <a:bodyPr/>
          <a:lstStyle/>
          <a:p>
            <a:r>
              <a:rPr lang="en-US"/>
              <a:t>Click icon to add table</a:t>
            </a:r>
            <a:endParaRPr lang="en-US" dirty="0"/>
          </a:p>
        </p:txBody>
      </p:sp>
      <p:sp>
        <p:nvSpPr>
          <p:cNvPr id="7" name="Text Placeholder 6"/>
          <p:cNvSpPr>
            <a:spLocks noGrp="1"/>
          </p:cNvSpPr>
          <p:nvPr>
            <p:ph type="body" sz="quarter" idx="14" hasCustomPrompt="1"/>
          </p:nvPr>
        </p:nvSpPr>
        <p:spPr>
          <a:xfrm>
            <a:off x="466725" y="6356350"/>
            <a:ext cx="4219575" cy="360363"/>
          </a:xfrm>
        </p:spPr>
        <p:txBody>
          <a:bodyPr>
            <a:no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25482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1ACCC9-0B01-4140-AB97-B2D5AAF74A13}"/>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814FBDE-2BA1-4740-A145-BE005D1192D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A6741B0-2215-8A46-88BF-F2E66B8FCFBF}"/>
              </a:ext>
            </a:extLst>
          </p:cNvPr>
          <p:cNvSpPr>
            <a:spLocks noGrp="1"/>
          </p:cNvSpPr>
          <p:nvPr>
            <p:ph type="sldNum" sz="quarter" idx="12"/>
          </p:nvPr>
        </p:nvSpPr>
        <p:spPr/>
        <p:txBody>
          <a:bodyPr/>
          <a:lstStyle/>
          <a:p>
            <a:fld id="{7C03E8FC-7EBD-BF42-9ED4-90D4B1E23A24}" type="slidenum">
              <a:rPr lang="en-US" smtClean="0"/>
              <a:t>‹#›</a:t>
            </a:fld>
            <a:endParaRPr lang="en-US"/>
          </a:p>
        </p:txBody>
      </p:sp>
      <p:sp>
        <p:nvSpPr>
          <p:cNvPr id="7" name="Text Placeholder 6"/>
          <p:cNvSpPr>
            <a:spLocks noGrp="1"/>
          </p:cNvSpPr>
          <p:nvPr>
            <p:ph type="body" sz="quarter" idx="13" hasCustomPrompt="1"/>
          </p:nvPr>
        </p:nvSpPr>
        <p:spPr>
          <a:xfrm>
            <a:off x="504825" y="6356350"/>
            <a:ext cx="3800475" cy="501650"/>
          </a:xfrm>
        </p:spPr>
        <p:txBody>
          <a:bodyPr>
            <a:normAutofit/>
          </a:bodyPr>
          <a:lstStyle>
            <a:lvl1pPr marL="0" indent="0">
              <a:buNone/>
              <a:defRPr sz="1000" baseline="0"/>
            </a:lvl1pPr>
          </a:lstStyle>
          <a:p>
            <a:pPr lvl="0"/>
            <a:r>
              <a:rPr lang="en-US" dirty="0"/>
              <a:t>[Add Footnote Here]</a:t>
            </a:r>
            <a:endParaRPr lang="en-MY" dirty="0"/>
          </a:p>
        </p:txBody>
      </p:sp>
    </p:spTree>
    <p:extLst>
      <p:ext uri="{BB962C8B-B14F-4D97-AF65-F5344CB8AC3E}">
        <p14:creationId xmlns:p14="http://schemas.microsoft.com/office/powerpoint/2010/main" val="3489254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7AE889-C293-674E-B5E9-01862CB4F1BA}"/>
              </a:ext>
            </a:extLst>
          </p:cNvPr>
          <p:cNvSpPr>
            <a:spLocks noGrp="1"/>
          </p:cNvSpPr>
          <p:nvPr>
            <p:ph type="pic" idx="1"/>
          </p:nvPr>
        </p:nvSpPr>
        <p:spPr>
          <a:xfrm>
            <a:off x="0" y="0"/>
            <a:ext cx="60579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F3565BFD-3AF0-F64F-BA5A-7FAD6F793F06}"/>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BC330D6F-16E3-BB4D-AAD6-AF24CD8A2838}"/>
              </a:ext>
            </a:extLst>
          </p:cNvPr>
          <p:cNvSpPr>
            <a:spLocks noGrp="1"/>
          </p:cNvSpPr>
          <p:nvPr>
            <p:ph type="title" hasCustomPrompt="1"/>
          </p:nvPr>
        </p:nvSpPr>
        <p:spPr>
          <a:xfrm>
            <a:off x="6669088" y="2256296"/>
            <a:ext cx="4397190" cy="523220"/>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8EA95580-89D1-2F44-B156-FC0FE81704F9}"/>
              </a:ext>
            </a:extLst>
          </p:cNvPr>
          <p:cNvSpPr>
            <a:spLocks noGrp="1"/>
          </p:cNvSpPr>
          <p:nvPr>
            <p:ph type="body" sz="half" idx="2"/>
          </p:nvPr>
        </p:nvSpPr>
        <p:spPr>
          <a:xfrm>
            <a:off x="6669088" y="3284782"/>
            <a:ext cx="4397190" cy="2584206"/>
          </a:xfrm>
        </p:spPr>
        <p:txBody>
          <a:bodyPr>
            <a:normAutofit/>
          </a:bodyPr>
          <a:lstStyle>
            <a:lvl1pPr marL="0" indent="0">
              <a:buNone/>
              <a:defRPr sz="2000">
                <a:solidFill>
                  <a:srgbClr val="7F7F7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698C8ABB-4A3F-E348-ADA0-77696158B139}"/>
              </a:ext>
            </a:extLst>
          </p:cNvPr>
          <p:cNvSpPr>
            <a:spLocks noGrp="1"/>
          </p:cNvSpPr>
          <p:nvPr>
            <p:ph type="sldNum" sz="quarter" idx="12"/>
          </p:nvPr>
        </p:nvSpPr>
        <p:spPr/>
        <p:txBody>
          <a:bodyPr/>
          <a:lstStyle/>
          <a:p>
            <a:fld id="{7C03E8FC-7EBD-BF42-9ED4-90D4B1E23A24}" type="slidenum">
              <a:rPr lang="en-US" smtClean="0"/>
              <a:t>‹#›</a:t>
            </a:fld>
            <a:endParaRPr lang="en-US"/>
          </a:p>
        </p:txBody>
      </p:sp>
    </p:spTree>
    <p:extLst>
      <p:ext uri="{BB962C8B-B14F-4D97-AF65-F5344CB8AC3E}">
        <p14:creationId xmlns:p14="http://schemas.microsoft.com/office/powerpoint/2010/main" val="45490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9" name="Object 8" hidden="1"/>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D332AD5B-E72D-A94F-98AE-656377385D6B}"/>
              </a:ext>
            </a:extLst>
          </p:cNvPr>
          <p:cNvPicPr>
            <a:picLocks noChangeAspect="1"/>
          </p:cNvPicPr>
          <p:nvPr userDrawn="1"/>
        </p:nvPicPr>
        <p:blipFill>
          <a:blip r:embed="rId17" cstate="screen">
            <a:lum/>
            <a:extLst>
              <a:ext uri="{28A0092B-C50C-407E-A947-70E740481C1C}">
                <a14:useLocalDpi xmlns:a14="http://schemas.microsoft.com/office/drawing/2010/main"/>
              </a:ext>
            </a:extLst>
          </a:blip>
          <a:stretch>
            <a:fillRect/>
          </a:stretch>
        </p:blipFill>
        <p:spPr>
          <a:xfrm>
            <a:off x="11081394" y="223339"/>
            <a:ext cx="603250" cy="603250"/>
          </a:xfrm>
          <a:prstGeom prst="rect">
            <a:avLst/>
          </a:prstGeom>
        </p:spPr>
      </p:pic>
      <p:sp>
        <p:nvSpPr>
          <p:cNvPr id="17" name="Rectangle 16">
            <a:extLst>
              <a:ext uri="{FF2B5EF4-FFF2-40B4-BE49-F238E27FC236}">
                <a16:creationId xmlns:a16="http://schemas.microsoft.com/office/drawing/2014/main" id="{4B1F3A1E-7DB8-E942-A26E-AA47434BAB2A}"/>
              </a:ext>
            </a:extLst>
          </p:cNvPr>
          <p:cNvSpPr/>
          <p:nvPr userDrawn="1"/>
        </p:nvSpPr>
        <p:spPr>
          <a:xfrm>
            <a:off x="0" y="321764"/>
            <a:ext cx="504824" cy="365125"/>
          </a:xfrm>
          <a:prstGeom prst="rect">
            <a:avLst/>
          </a:prstGeom>
          <a:solidFill>
            <a:srgbClr val="A6A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9D2D0EB2-9874-914F-813F-217E2062148A}"/>
              </a:ext>
            </a:extLst>
          </p:cNvPr>
          <p:cNvSpPr>
            <a:spLocks noGrp="1"/>
          </p:cNvSpPr>
          <p:nvPr>
            <p:ph type="ftr" sz="quarter" idx="3"/>
          </p:nvPr>
        </p:nvSpPr>
        <p:spPr>
          <a:xfrm>
            <a:off x="9278470" y="6356350"/>
            <a:ext cx="2197675" cy="360000"/>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endParaRPr lang="en-US" dirty="0"/>
          </a:p>
        </p:txBody>
      </p:sp>
      <p:cxnSp>
        <p:nvCxnSpPr>
          <p:cNvPr id="7" name="Straight Connector 6">
            <a:extLst>
              <a:ext uri="{FF2B5EF4-FFF2-40B4-BE49-F238E27FC236}">
                <a16:creationId xmlns:a16="http://schemas.microsoft.com/office/drawing/2014/main" id="{1F060E8E-1590-EC47-B852-A8EDA70D52E9}"/>
              </a:ext>
            </a:extLst>
          </p:cNvPr>
          <p:cNvCxnSpPr/>
          <p:nvPr userDrawn="1"/>
        </p:nvCxnSpPr>
        <p:spPr>
          <a:xfrm>
            <a:off x="504825" y="6333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1AF1BBB8-66EF-AE41-A86C-2B947B05AAFE}"/>
              </a:ext>
            </a:extLst>
          </p:cNvPr>
          <p:cNvSpPr>
            <a:spLocks noGrp="1"/>
          </p:cNvSpPr>
          <p:nvPr>
            <p:ph type="title"/>
          </p:nvPr>
        </p:nvSpPr>
        <p:spPr>
          <a:xfrm>
            <a:off x="504825" y="250215"/>
            <a:ext cx="10412557" cy="5842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5B460CC-4201-9F45-950F-D8B26925AAAC}"/>
              </a:ext>
            </a:extLst>
          </p:cNvPr>
          <p:cNvSpPr>
            <a:spLocks noGrp="1"/>
          </p:cNvSpPr>
          <p:nvPr>
            <p:ph type="body" idx="1"/>
          </p:nvPr>
        </p:nvSpPr>
        <p:spPr>
          <a:xfrm>
            <a:off x="666596" y="1321555"/>
            <a:ext cx="10515600" cy="48554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704F3C0-4E01-514C-A6AC-261444DB95E2}"/>
              </a:ext>
            </a:extLst>
          </p:cNvPr>
          <p:cNvSpPr>
            <a:spLocks noGrp="1"/>
          </p:cNvSpPr>
          <p:nvPr>
            <p:ph type="sldNum" sz="quarter" idx="4"/>
          </p:nvPr>
        </p:nvSpPr>
        <p:spPr>
          <a:xfrm>
            <a:off x="11508806" y="6356350"/>
            <a:ext cx="270000" cy="360000"/>
          </a:xfrm>
          <a:prstGeom prst="rect">
            <a:avLst/>
          </a:prstGeom>
        </p:spPr>
        <p:txBody>
          <a:bodyPr vert="horz" lIns="0" tIns="0" rIns="0" bIns="0" rtlCol="0" anchor="ctr"/>
          <a:lstStyle>
            <a:lvl1pPr algn="r">
              <a:defRPr sz="1000" b="1">
                <a:solidFill>
                  <a:srgbClr val="898989"/>
                </a:solidFill>
              </a:defRPr>
            </a:lvl1pPr>
          </a:lstStyle>
          <a:p>
            <a:fld id="{7C03E8FC-7EBD-BF42-9ED4-90D4B1E23A24}" type="slidenum">
              <a:rPr lang="en-US" smtClean="0"/>
              <a:pPr/>
              <a:t>‹#›</a:t>
            </a:fld>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MY" dirty="0"/>
          </a:p>
        </p:txBody>
      </p:sp>
      <p:grpSp>
        <p:nvGrpSpPr>
          <p:cNvPr id="11" name="Group 10"/>
          <p:cNvGrpSpPr/>
          <p:nvPr userDrawn="1"/>
        </p:nvGrpSpPr>
        <p:grpSpPr>
          <a:xfrm>
            <a:off x="-767806" y="0"/>
            <a:ext cx="457200" cy="2413535"/>
            <a:chOff x="-533400" y="0"/>
            <a:chExt cx="457200" cy="2413535"/>
          </a:xfrm>
          <a:effectLst>
            <a:outerShdw blurRad="50800" dist="38100" dir="2700000" algn="tl" rotWithShape="0">
              <a:prstClr val="black">
                <a:alpha val="40000"/>
              </a:prstClr>
            </a:outerShdw>
          </a:effectLst>
        </p:grpSpPr>
        <p:sp>
          <p:nvSpPr>
            <p:cNvPr id="12" name="Rectangle 11"/>
            <p:cNvSpPr/>
            <p:nvPr userDrawn="1"/>
          </p:nvSpPr>
          <p:spPr>
            <a:xfrm>
              <a:off x="-533400" y="0"/>
              <a:ext cx="457200" cy="3561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p:cNvSpPr/>
            <p:nvPr userDrawn="1"/>
          </p:nvSpPr>
          <p:spPr>
            <a:xfrm>
              <a:off x="-533400" y="357071"/>
              <a:ext cx="457200" cy="35613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p:cNvSpPr/>
            <p:nvPr userDrawn="1"/>
          </p:nvSpPr>
          <p:spPr>
            <a:xfrm>
              <a:off x="-533400" y="714142"/>
              <a:ext cx="457200" cy="356135"/>
            </a:xfrm>
            <a:prstGeom prst="rect">
              <a:avLst/>
            </a:prstGeom>
            <a:solidFill>
              <a:srgbClr val="FFB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p:cNvSpPr/>
            <p:nvPr userDrawn="1"/>
          </p:nvSpPr>
          <p:spPr>
            <a:xfrm>
              <a:off x="-533400" y="1071213"/>
              <a:ext cx="457200" cy="3561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p:cNvSpPr/>
            <p:nvPr userDrawn="1"/>
          </p:nvSpPr>
          <p:spPr>
            <a:xfrm>
              <a:off x="-533400" y="1428284"/>
              <a:ext cx="457200" cy="356135"/>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p:cNvSpPr/>
            <p:nvPr userDrawn="1"/>
          </p:nvSpPr>
          <p:spPr>
            <a:xfrm>
              <a:off x="-533400" y="1785355"/>
              <a:ext cx="457200" cy="356135"/>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p:cNvSpPr/>
            <p:nvPr userDrawn="1"/>
          </p:nvSpPr>
          <p:spPr>
            <a:xfrm>
              <a:off x="-533400" y="2057400"/>
              <a:ext cx="457200" cy="356135"/>
            </a:xfrm>
            <a:prstGeom prst="rec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Tree>
    <p:extLst>
      <p:ext uri="{BB962C8B-B14F-4D97-AF65-F5344CB8AC3E}">
        <p14:creationId xmlns:p14="http://schemas.microsoft.com/office/powerpoint/2010/main" val="3912359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5"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C34-A164-BFAF-3771-D875E32167D4}"/>
              </a:ext>
            </a:extLst>
          </p:cNvPr>
          <p:cNvSpPr>
            <a:spLocks noGrp="1"/>
          </p:cNvSpPr>
          <p:nvPr>
            <p:ph type="title"/>
          </p:nvPr>
        </p:nvSpPr>
        <p:spPr/>
        <p:txBody>
          <a:bodyPr/>
          <a:lstStyle/>
          <a:p>
            <a:r>
              <a:rPr lang="en-US" dirty="0"/>
              <a:t>Initial Approach</a:t>
            </a:r>
          </a:p>
        </p:txBody>
      </p:sp>
      <p:sp>
        <p:nvSpPr>
          <p:cNvPr id="3" name="Slide Number Placeholder 2">
            <a:extLst>
              <a:ext uri="{FF2B5EF4-FFF2-40B4-BE49-F238E27FC236}">
                <a16:creationId xmlns:a16="http://schemas.microsoft.com/office/drawing/2014/main" id="{92F7515B-3E78-F26A-E155-562560B5D81D}"/>
              </a:ext>
            </a:extLst>
          </p:cNvPr>
          <p:cNvSpPr>
            <a:spLocks noGrp="1"/>
          </p:cNvSpPr>
          <p:nvPr>
            <p:ph type="sldNum" sz="quarter" idx="12"/>
          </p:nvPr>
        </p:nvSpPr>
        <p:spPr>
          <a:xfrm>
            <a:off x="11168024" y="7362710"/>
            <a:ext cx="270000" cy="360000"/>
          </a:xfrm>
        </p:spPr>
        <p:txBody>
          <a:bodyPr/>
          <a:lstStyle/>
          <a:p>
            <a:fld id="{7C03E8FC-7EBD-BF42-9ED4-90D4B1E23A24}" type="slidenum">
              <a:rPr lang="en-US" smtClean="0"/>
              <a:t>1</a:t>
            </a:fld>
            <a:endParaRPr lang="en-US"/>
          </a:p>
        </p:txBody>
      </p:sp>
      <p:sp>
        <p:nvSpPr>
          <p:cNvPr id="9" name="Rounded Rectangle 8">
            <a:extLst>
              <a:ext uri="{FF2B5EF4-FFF2-40B4-BE49-F238E27FC236}">
                <a16:creationId xmlns:a16="http://schemas.microsoft.com/office/drawing/2014/main" id="{4AAD5E4B-A456-E525-768D-A07FA17D1404}"/>
              </a:ext>
            </a:extLst>
          </p:cNvPr>
          <p:cNvSpPr/>
          <p:nvPr/>
        </p:nvSpPr>
        <p:spPr>
          <a:xfrm>
            <a:off x="6617208" y="2807974"/>
            <a:ext cx="1560195" cy="48006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ESG Scores</a:t>
            </a:r>
          </a:p>
        </p:txBody>
      </p:sp>
      <p:sp>
        <p:nvSpPr>
          <p:cNvPr id="12" name="Rounded Rectangle 11">
            <a:extLst>
              <a:ext uri="{FF2B5EF4-FFF2-40B4-BE49-F238E27FC236}">
                <a16:creationId xmlns:a16="http://schemas.microsoft.com/office/drawing/2014/main" id="{1282C52F-9C31-3337-B931-3720AD695429}"/>
              </a:ext>
            </a:extLst>
          </p:cNvPr>
          <p:cNvSpPr/>
          <p:nvPr/>
        </p:nvSpPr>
        <p:spPr>
          <a:xfrm>
            <a:off x="6617208" y="3768094"/>
            <a:ext cx="1560195" cy="48006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Financials</a:t>
            </a:r>
          </a:p>
        </p:txBody>
      </p:sp>
      <p:sp>
        <p:nvSpPr>
          <p:cNvPr id="13" name="Rounded Rectangle 12">
            <a:extLst>
              <a:ext uri="{FF2B5EF4-FFF2-40B4-BE49-F238E27FC236}">
                <a16:creationId xmlns:a16="http://schemas.microsoft.com/office/drawing/2014/main" id="{27E823F7-4FAB-EAC6-D2BE-047C518D2444}"/>
              </a:ext>
            </a:extLst>
          </p:cNvPr>
          <p:cNvSpPr/>
          <p:nvPr/>
        </p:nvSpPr>
        <p:spPr>
          <a:xfrm>
            <a:off x="9625328" y="3188970"/>
            <a:ext cx="1673245" cy="480060"/>
          </a:xfrm>
          <a:prstGeom prst="roundRect">
            <a:avLst/>
          </a:prstGeom>
          <a:solidFill>
            <a:srgbClr val="FFB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Credit Ratings</a:t>
            </a:r>
          </a:p>
        </p:txBody>
      </p:sp>
      <p:sp>
        <p:nvSpPr>
          <p:cNvPr id="21" name="Oval 20">
            <a:extLst>
              <a:ext uri="{FF2B5EF4-FFF2-40B4-BE49-F238E27FC236}">
                <a16:creationId xmlns:a16="http://schemas.microsoft.com/office/drawing/2014/main" id="{147D4D50-2684-1022-4709-753AEFF245D3}"/>
              </a:ext>
            </a:extLst>
          </p:cNvPr>
          <p:cNvSpPr/>
          <p:nvPr/>
        </p:nvSpPr>
        <p:spPr>
          <a:xfrm>
            <a:off x="8738896" y="3288034"/>
            <a:ext cx="274320" cy="258694"/>
          </a:xfrm>
          <a:prstGeom prst="ellips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0503DD17-8B1E-10EF-91E1-A79F673CF6CA}"/>
              </a:ext>
            </a:extLst>
          </p:cNvPr>
          <p:cNvSpPr/>
          <p:nvPr/>
        </p:nvSpPr>
        <p:spPr>
          <a:xfrm rot="2648983">
            <a:off x="8336426" y="3107758"/>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836E6209-356A-B035-2301-91ADA117CC73}"/>
              </a:ext>
            </a:extLst>
          </p:cNvPr>
          <p:cNvSpPr/>
          <p:nvPr/>
        </p:nvSpPr>
        <p:spPr>
          <a:xfrm rot="19463079">
            <a:off x="8343027" y="3625422"/>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D1009DC3-4674-3D88-33ED-78164C2FF8F6}"/>
              </a:ext>
            </a:extLst>
          </p:cNvPr>
          <p:cNvSpPr/>
          <p:nvPr/>
        </p:nvSpPr>
        <p:spPr>
          <a:xfrm>
            <a:off x="9155364" y="3348801"/>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ular Callout 35">
            <a:extLst>
              <a:ext uri="{FF2B5EF4-FFF2-40B4-BE49-F238E27FC236}">
                <a16:creationId xmlns:a16="http://schemas.microsoft.com/office/drawing/2014/main" id="{20A2B7BD-B6F7-CB93-42B0-EB5B92F01A5C}"/>
              </a:ext>
            </a:extLst>
          </p:cNvPr>
          <p:cNvSpPr/>
          <p:nvPr/>
        </p:nvSpPr>
        <p:spPr>
          <a:xfrm>
            <a:off x="8620205" y="2326901"/>
            <a:ext cx="1233809" cy="675734"/>
          </a:xfrm>
          <a:prstGeom prst="wedgeRoundRectCallout">
            <a:avLst>
              <a:gd name="adj1" fmla="val -26645"/>
              <a:gd name="adj2" fmla="val 85181"/>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ML model to calculate an internal Credit Rating</a:t>
            </a:r>
          </a:p>
        </p:txBody>
      </p:sp>
      <p:pic>
        <p:nvPicPr>
          <p:cNvPr id="14" name="Picture 13" descr="A screenshot of a computer screen&#10;&#10;AI-generated content may be incorrect.">
            <a:extLst>
              <a:ext uri="{FF2B5EF4-FFF2-40B4-BE49-F238E27FC236}">
                <a16:creationId xmlns:a16="http://schemas.microsoft.com/office/drawing/2014/main" id="{6874411B-3C7A-AAC2-106E-8D190EDC26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022" y="853671"/>
            <a:ext cx="5319576" cy="2335299"/>
          </a:xfrm>
          <a:prstGeom prst="rect">
            <a:avLst/>
          </a:prstGeom>
        </p:spPr>
      </p:pic>
      <p:pic>
        <p:nvPicPr>
          <p:cNvPr id="26" name="Picture 25" descr="A table with different colored squares&#10;&#10;AI-generated content may be incorrect.">
            <a:extLst>
              <a:ext uri="{FF2B5EF4-FFF2-40B4-BE49-F238E27FC236}">
                <a16:creationId xmlns:a16="http://schemas.microsoft.com/office/drawing/2014/main" id="{7D4D2B6D-A0C1-777F-9DC4-A9D7C74BC5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022" y="3546728"/>
            <a:ext cx="5319576" cy="2683257"/>
          </a:xfrm>
          <a:prstGeom prst="rect">
            <a:avLst/>
          </a:prstGeom>
        </p:spPr>
      </p:pic>
      <p:sp>
        <p:nvSpPr>
          <p:cNvPr id="28" name="TextBox 27">
            <a:extLst>
              <a:ext uri="{FF2B5EF4-FFF2-40B4-BE49-F238E27FC236}">
                <a16:creationId xmlns:a16="http://schemas.microsoft.com/office/drawing/2014/main" id="{68C31165-9E9D-1367-33FB-778FEEC43450}"/>
              </a:ext>
            </a:extLst>
          </p:cNvPr>
          <p:cNvSpPr txBox="1"/>
          <p:nvPr/>
        </p:nvSpPr>
        <p:spPr>
          <a:xfrm>
            <a:off x="1984248" y="3201937"/>
            <a:ext cx="2294218" cy="215444"/>
          </a:xfrm>
          <a:prstGeom prst="rect">
            <a:avLst/>
          </a:prstGeom>
          <a:noFill/>
        </p:spPr>
        <p:txBody>
          <a:bodyPr wrap="none" rtlCol="0">
            <a:spAutoFit/>
          </a:bodyPr>
          <a:lstStyle/>
          <a:p>
            <a:r>
              <a:rPr lang="en-US" sz="800" i="1" dirty="0"/>
              <a:t>Fig. Maybank ESG Rating from </a:t>
            </a:r>
            <a:r>
              <a:rPr lang="en-US" sz="800" i="1" dirty="0" err="1"/>
              <a:t>yahoo!finance</a:t>
            </a:r>
            <a:r>
              <a:rPr lang="en-US" sz="800" i="1" dirty="0"/>
              <a:t> </a:t>
            </a:r>
          </a:p>
        </p:txBody>
      </p:sp>
    </p:spTree>
    <p:extLst>
      <p:ext uri="{BB962C8B-B14F-4D97-AF65-F5344CB8AC3E}">
        <p14:creationId xmlns:p14="http://schemas.microsoft.com/office/powerpoint/2010/main" val="2359952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2FF7E56D-75A9-416C-34E9-54803DC84CEA}"/>
              </a:ext>
            </a:extLst>
          </p:cNvPr>
          <p:cNvSpPr>
            <a:spLocks noGrp="1"/>
          </p:cNvSpPr>
          <p:nvPr>
            <p:ph type="title"/>
          </p:nvPr>
        </p:nvSpPr>
        <p:spPr>
          <a:xfrm>
            <a:off x="504825" y="250215"/>
            <a:ext cx="10412557" cy="584297"/>
          </a:xfrm>
        </p:spPr>
        <p:txBody>
          <a:bodyPr/>
          <a:lstStyle/>
          <a:p>
            <a:r>
              <a:rPr lang="en-SG" dirty="0"/>
              <a:t>Cross Distribution of customer for credit rating vs ESG score</a:t>
            </a:r>
            <a:endParaRPr lang="en-US" dirty="0"/>
          </a:p>
        </p:txBody>
      </p:sp>
      <p:sp>
        <p:nvSpPr>
          <p:cNvPr id="4" name="Slide Number Placeholder 3">
            <a:extLst>
              <a:ext uri="{FF2B5EF4-FFF2-40B4-BE49-F238E27FC236}">
                <a16:creationId xmlns:a16="http://schemas.microsoft.com/office/drawing/2014/main" id="{9160F6EF-0DFB-7A20-F709-6D73D36743AF}"/>
              </a:ext>
            </a:extLst>
          </p:cNvPr>
          <p:cNvSpPr>
            <a:spLocks noGrp="1"/>
          </p:cNvSpPr>
          <p:nvPr>
            <p:ph type="sldNum" sz="quarter" idx="12"/>
          </p:nvPr>
        </p:nvSpPr>
        <p:spPr>
          <a:xfrm>
            <a:off x="11508806" y="6356350"/>
            <a:ext cx="270000" cy="360000"/>
          </a:xfrm>
        </p:spPr>
        <p:txBody>
          <a:bodyPr anchor="ctr">
            <a:normAutofit/>
          </a:bodyPr>
          <a:lstStyle/>
          <a:p>
            <a:pPr>
              <a:spcAft>
                <a:spcPts val="600"/>
              </a:spcAft>
            </a:pPr>
            <a:fld id="{7C03E8FC-7EBD-BF42-9ED4-90D4B1E23A24}" type="slidenum">
              <a:rPr lang="en-US" smtClean="0"/>
              <a:pPr>
                <a:spcAft>
                  <a:spcPts val="600"/>
                </a:spcAft>
              </a:pPr>
              <a:t>2</a:t>
            </a:fld>
            <a:endParaRPr lang="en-US"/>
          </a:p>
        </p:txBody>
      </p:sp>
      <p:sp>
        <p:nvSpPr>
          <p:cNvPr id="17" name="Text Placeholder 6">
            <a:extLst>
              <a:ext uri="{FF2B5EF4-FFF2-40B4-BE49-F238E27FC236}">
                <a16:creationId xmlns:a16="http://schemas.microsoft.com/office/drawing/2014/main" id="{5B65D9D8-5AB7-781A-64AF-1B2406DB0455}"/>
              </a:ext>
            </a:extLst>
          </p:cNvPr>
          <p:cNvSpPr>
            <a:spLocks noGrp="1"/>
          </p:cNvSpPr>
          <p:nvPr>
            <p:ph type="body" sz="quarter" idx="14"/>
          </p:nvPr>
        </p:nvSpPr>
        <p:spPr>
          <a:xfrm>
            <a:off x="466725" y="6356350"/>
            <a:ext cx="3444875" cy="360363"/>
          </a:xfrm>
        </p:spPr>
        <p:txBody>
          <a:bodyPr/>
          <a:lstStyle/>
          <a:p>
            <a:endParaRPr lang="en-US"/>
          </a:p>
        </p:txBody>
      </p:sp>
      <p:pic>
        <p:nvPicPr>
          <p:cNvPr id="11" name="Picture 10">
            <a:extLst>
              <a:ext uri="{FF2B5EF4-FFF2-40B4-BE49-F238E27FC236}">
                <a16:creationId xmlns:a16="http://schemas.microsoft.com/office/drawing/2014/main" id="{9F5E21B1-58FC-4648-A06F-305E454A7B5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6726" y="997712"/>
            <a:ext cx="5313588" cy="3088547"/>
          </a:xfrm>
          <a:prstGeom prst="rect">
            <a:avLst/>
          </a:prstGeom>
        </p:spPr>
      </p:pic>
      <p:sp>
        <p:nvSpPr>
          <p:cNvPr id="16" name="TextBox 15">
            <a:extLst>
              <a:ext uri="{FF2B5EF4-FFF2-40B4-BE49-F238E27FC236}">
                <a16:creationId xmlns:a16="http://schemas.microsoft.com/office/drawing/2014/main" id="{89B6C645-B4B5-A6A6-7D9C-F1C2D4BCCC8D}"/>
              </a:ext>
            </a:extLst>
          </p:cNvPr>
          <p:cNvSpPr txBox="1"/>
          <p:nvPr/>
        </p:nvSpPr>
        <p:spPr>
          <a:xfrm>
            <a:off x="466725" y="720713"/>
            <a:ext cx="11003981" cy="276999"/>
          </a:xfrm>
          <a:prstGeom prst="rect">
            <a:avLst/>
          </a:prstGeom>
          <a:noFill/>
        </p:spPr>
        <p:txBody>
          <a:bodyPr wrap="square" rtlCol="0">
            <a:spAutoFit/>
          </a:bodyPr>
          <a:lstStyle/>
          <a:p>
            <a:r>
              <a:rPr lang="en-US" sz="1200" dirty="0"/>
              <a:t>Dataset (‘</a:t>
            </a:r>
            <a:r>
              <a:rPr lang="en-US" sz="1200" dirty="0" err="1"/>
              <a:t>combined_data</a:t>
            </a:r>
            <a:r>
              <a:rPr lang="en-US" sz="1200" dirty="0"/>
              <a:t>’) includes </a:t>
            </a:r>
            <a:r>
              <a:rPr lang="en-US" sz="1200" b="1" dirty="0"/>
              <a:t>181 rows</a:t>
            </a:r>
            <a:r>
              <a:rPr lang="en-US" sz="1200" dirty="0"/>
              <a:t>, variables included</a:t>
            </a:r>
            <a:r>
              <a:rPr lang="en-SG" sz="1200" dirty="0"/>
              <a:t>: ‘</a:t>
            </a:r>
            <a:r>
              <a:rPr lang="en-SG" sz="1200" b="1" dirty="0"/>
              <a:t>Total ESG Risk Score</a:t>
            </a:r>
            <a:r>
              <a:rPr lang="en-SG" sz="1200" dirty="0"/>
              <a:t>’, (credit) ‘</a:t>
            </a:r>
            <a:r>
              <a:rPr lang="en-SG" sz="1200" b="1" dirty="0"/>
              <a:t>Numerical Rating’</a:t>
            </a:r>
            <a:r>
              <a:rPr lang="en-SG" sz="1200" dirty="0"/>
              <a:t>) – converted from ‘</a:t>
            </a:r>
            <a:r>
              <a:rPr lang="en-SG" sz="1200" b="1" dirty="0"/>
              <a:t>Rating</a:t>
            </a:r>
            <a:r>
              <a:rPr lang="en-SG" sz="1200" dirty="0"/>
              <a:t>’</a:t>
            </a:r>
            <a:endParaRPr lang="en-US" dirty="0"/>
          </a:p>
        </p:txBody>
      </p:sp>
      <p:sp>
        <p:nvSpPr>
          <p:cNvPr id="18" name="TextBox 17">
            <a:extLst>
              <a:ext uri="{FF2B5EF4-FFF2-40B4-BE49-F238E27FC236}">
                <a16:creationId xmlns:a16="http://schemas.microsoft.com/office/drawing/2014/main" id="{0A31ECF7-0B15-9323-0D3E-867EAAD919F0}"/>
              </a:ext>
            </a:extLst>
          </p:cNvPr>
          <p:cNvSpPr txBox="1"/>
          <p:nvPr/>
        </p:nvSpPr>
        <p:spPr>
          <a:xfrm>
            <a:off x="466725" y="4086259"/>
            <a:ext cx="4608351" cy="1954381"/>
          </a:xfrm>
          <a:prstGeom prst="rect">
            <a:avLst/>
          </a:prstGeom>
          <a:noFill/>
        </p:spPr>
        <p:txBody>
          <a:bodyPr wrap="square" rtlCol="0">
            <a:spAutoFit/>
          </a:bodyPr>
          <a:lstStyle/>
          <a:p>
            <a:pPr>
              <a:buNone/>
            </a:pPr>
            <a:r>
              <a:rPr lang="en-SG" sz="1100" b="1" dirty="0"/>
              <a:t>1. No Strong Linear Trend</a:t>
            </a:r>
            <a:endParaRPr lang="en-SG" sz="1100" dirty="0"/>
          </a:p>
          <a:p>
            <a:pPr>
              <a:buFont typeface="Arial" panose="020B0604020202020204" pitchFamily="34" charset="0"/>
              <a:buChar char="•"/>
            </a:pPr>
            <a:r>
              <a:rPr lang="en-SG" sz="1100" dirty="0"/>
              <a:t>While there is some clustering, there is no clear linear relationship between ESG risk and credit rating. Companies with both good and bad credit ratings are spread across different ESG risk levels, suggesting other factors influence creditworthiness beyond ESG considerations.</a:t>
            </a:r>
          </a:p>
          <a:p>
            <a:pPr>
              <a:buFont typeface="Arial" panose="020B0604020202020204" pitchFamily="34" charset="0"/>
              <a:buChar char="•"/>
            </a:pPr>
            <a:endParaRPr lang="en-SG" sz="1100" dirty="0"/>
          </a:p>
          <a:p>
            <a:pPr>
              <a:buNone/>
            </a:pPr>
            <a:r>
              <a:rPr lang="en-SG" sz="1100" dirty="0"/>
              <a:t>2. </a:t>
            </a:r>
            <a:r>
              <a:rPr lang="en-SG" sz="1100" b="1" dirty="0"/>
              <a:t>Highest Density Cluster</a:t>
            </a:r>
            <a:endParaRPr lang="en-SG" sz="1100" dirty="0"/>
          </a:p>
          <a:p>
            <a:pPr>
              <a:buFont typeface="Arial" panose="020B0604020202020204" pitchFamily="34" charset="0"/>
              <a:buChar char="•"/>
            </a:pPr>
            <a:r>
              <a:rPr lang="en-SG" sz="1100" dirty="0"/>
              <a:t>The densest region appears around ESG scores </a:t>
            </a:r>
            <a:r>
              <a:rPr lang="en-SG" sz="1100" b="1" dirty="0"/>
              <a:t>20-25</a:t>
            </a:r>
            <a:r>
              <a:rPr lang="en-SG" sz="1100" dirty="0"/>
              <a:t> and credit ratings </a:t>
            </a:r>
            <a:r>
              <a:rPr lang="en-SG" sz="1100" b="1" dirty="0"/>
              <a:t>6-10</a:t>
            </a:r>
            <a:r>
              <a:rPr lang="en-SG" sz="1100" dirty="0"/>
              <a:t>, indicating that most companies in this dataset have moderate ESG risk and mid-tier credit ratings.</a:t>
            </a:r>
          </a:p>
        </p:txBody>
      </p:sp>
      <p:pic>
        <p:nvPicPr>
          <p:cNvPr id="3" name="Picture 2">
            <a:extLst>
              <a:ext uri="{FF2B5EF4-FFF2-40B4-BE49-F238E27FC236}">
                <a16:creationId xmlns:a16="http://schemas.microsoft.com/office/drawing/2014/main" id="{8F4784BB-6D3C-3FEE-C764-0C23DB5AE6A3}"/>
              </a:ext>
            </a:extLst>
          </p:cNvPr>
          <p:cNvPicPr>
            <a:picLocks noChangeAspect="1"/>
          </p:cNvPicPr>
          <p:nvPr/>
        </p:nvPicPr>
        <p:blipFill>
          <a:blip r:embed="rId4">
            <a:extLst>
              <a:ext uri="{28A0092B-C50C-407E-A947-70E740481C1C}">
                <a14:useLocalDpi xmlns:a14="http://schemas.microsoft.com/office/drawing/2010/main" val="0"/>
              </a:ext>
            </a:extLst>
          </a:blip>
          <a:srcRect r="3872"/>
          <a:stretch/>
        </p:blipFill>
        <p:spPr>
          <a:xfrm>
            <a:off x="5337934" y="997712"/>
            <a:ext cx="6854065" cy="3854034"/>
          </a:xfrm>
          <a:prstGeom prst="rect">
            <a:avLst/>
          </a:prstGeom>
        </p:spPr>
      </p:pic>
      <p:sp>
        <p:nvSpPr>
          <p:cNvPr id="6" name="TextBox 5">
            <a:extLst>
              <a:ext uri="{FF2B5EF4-FFF2-40B4-BE49-F238E27FC236}">
                <a16:creationId xmlns:a16="http://schemas.microsoft.com/office/drawing/2014/main" id="{ED754973-1003-E5DE-2039-D41046C33B8D}"/>
              </a:ext>
            </a:extLst>
          </p:cNvPr>
          <p:cNvSpPr txBox="1"/>
          <p:nvPr/>
        </p:nvSpPr>
        <p:spPr>
          <a:xfrm>
            <a:off x="5243028" y="4720884"/>
            <a:ext cx="6653188" cy="1446550"/>
          </a:xfrm>
          <a:prstGeom prst="rect">
            <a:avLst/>
          </a:prstGeom>
          <a:noFill/>
        </p:spPr>
        <p:txBody>
          <a:bodyPr wrap="square" rtlCol="0">
            <a:spAutoFit/>
          </a:bodyPr>
          <a:lstStyle/>
          <a:p>
            <a:pPr>
              <a:buNone/>
            </a:pPr>
            <a:r>
              <a:rPr lang="en-SG" sz="1100" b="1" dirty="0"/>
              <a:t>Moderate Negative Correlations</a:t>
            </a:r>
          </a:p>
          <a:p>
            <a:pPr marL="171450" indent="-171450">
              <a:buFont typeface="Arial" panose="020B0604020202020204" pitchFamily="34" charset="0"/>
              <a:buChar char="•"/>
            </a:pPr>
            <a:r>
              <a:rPr lang="en-SG" sz="1100" b="1" dirty="0"/>
              <a:t>More profitable firms tend to have lower ESG risk scores</a:t>
            </a:r>
            <a:r>
              <a:rPr lang="en-SG" sz="1100" dirty="0"/>
              <a:t>, especially:</a:t>
            </a:r>
          </a:p>
          <a:p>
            <a:pPr marL="742950" lvl="1" indent="-285750">
              <a:buFont typeface="Arial" panose="020B0604020202020204" pitchFamily="34" charset="0"/>
              <a:buChar char="•"/>
            </a:pPr>
            <a:r>
              <a:rPr lang="en-SG" sz="1100" dirty="0"/>
              <a:t>Net Profit Margin vs </a:t>
            </a:r>
            <a:r>
              <a:rPr lang="en-SG" sz="1100" b="1" dirty="0"/>
              <a:t>Total ESG Risk Score</a:t>
            </a:r>
            <a:r>
              <a:rPr lang="en-SG" sz="1100" dirty="0"/>
              <a:t> (r ≈ -0.33)</a:t>
            </a:r>
          </a:p>
          <a:p>
            <a:pPr marL="742950" lvl="1" indent="-285750">
              <a:buFont typeface="Arial" panose="020B0604020202020204" pitchFamily="34" charset="0"/>
              <a:buChar char="•"/>
            </a:pPr>
            <a:r>
              <a:rPr lang="en-SG" sz="1100" dirty="0"/>
              <a:t>ROA, ROI, EBIT Margin vs </a:t>
            </a:r>
            <a:r>
              <a:rPr lang="en-SG" sz="1100" b="1" dirty="0"/>
              <a:t>Total ESG Risk Score</a:t>
            </a:r>
            <a:r>
              <a:rPr lang="en-SG" sz="1100" dirty="0"/>
              <a:t> (r ≈ -0.26 to -0.29)</a:t>
            </a:r>
          </a:p>
          <a:p>
            <a:pPr marL="742950" lvl="1" indent="-285750">
              <a:buFont typeface="Arial" panose="020B0604020202020204" pitchFamily="34" charset="0"/>
              <a:buChar char="•"/>
            </a:pPr>
            <a:r>
              <a:rPr lang="en-SG" sz="1100" dirty="0"/>
              <a:t>Gross Margin, Operating Margin, EBIT Margin vs </a:t>
            </a:r>
            <a:r>
              <a:rPr lang="en-SG" sz="1100" b="1" dirty="0"/>
              <a:t>Environment Risk Score</a:t>
            </a:r>
            <a:r>
              <a:rPr lang="en-SG" sz="1100" dirty="0"/>
              <a:t> (r ≈ -0.35 to -0.39)</a:t>
            </a:r>
          </a:p>
          <a:p>
            <a:pPr marL="171450" indent="-171450">
              <a:buFont typeface="Arial" panose="020B0604020202020204" pitchFamily="34" charset="0"/>
              <a:buChar char="•"/>
            </a:pPr>
            <a:r>
              <a:rPr lang="en-SG" sz="1100" dirty="0"/>
              <a:t>Suggests that </a:t>
            </a:r>
            <a:r>
              <a:rPr lang="en-SG" sz="1100" b="1" dirty="0"/>
              <a:t>financial efficiency aligns with better ESG performance</a:t>
            </a:r>
            <a:r>
              <a:rPr lang="en-SG" sz="1100" dirty="0"/>
              <a:t>, particularly in </a:t>
            </a:r>
            <a:r>
              <a:rPr lang="en-SG" sz="1100" b="1" dirty="0"/>
              <a:t>environmental aspects</a:t>
            </a:r>
            <a:endParaRPr lang="en-SG" sz="1100" dirty="0"/>
          </a:p>
        </p:txBody>
      </p:sp>
    </p:spTree>
    <p:extLst>
      <p:ext uri="{BB962C8B-B14F-4D97-AF65-F5344CB8AC3E}">
        <p14:creationId xmlns:p14="http://schemas.microsoft.com/office/powerpoint/2010/main" val="1139285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ADA3F-C78A-AF59-1EE6-790AF8059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6B659-72C3-C06A-C32C-939321C47186}"/>
              </a:ext>
            </a:extLst>
          </p:cNvPr>
          <p:cNvSpPr>
            <a:spLocks noGrp="1"/>
          </p:cNvSpPr>
          <p:nvPr>
            <p:ph type="title"/>
          </p:nvPr>
        </p:nvSpPr>
        <p:spPr/>
        <p:txBody>
          <a:bodyPr/>
          <a:lstStyle/>
          <a:p>
            <a:r>
              <a:rPr lang="en-US" dirty="0"/>
              <a:t>Use Case Overview</a:t>
            </a:r>
          </a:p>
        </p:txBody>
      </p:sp>
      <p:sp>
        <p:nvSpPr>
          <p:cNvPr id="3" name="Slide Number Placeholder 2">
            <a:extLst>
              <a:ext uri="{FF2B5EF4-FFF2-40B4-BE49-F238E27FC236}">
                <a16:creationId xmlns:a16="http://schemas.microsoft.com/office/drawing/2014/main" id="{451429B8-E6B9-266B-F98E-0E7FA1489BAE}"/>
              </a:ext>
            </a:extLst>
          </p:cNvPr>
          <p:cNvSpPr>
            <a:spLocks noGrp="1"/>
          </p:cNvSpPr>
          <p:nvPr>
            <p:ph type="sldNum" sz="quarter" idx="12"/>
          </p:nvPr>
        </p:nvSpPr>
        <p:spPr>
          <a:xfrm>
            <a:off x="11168024" y="7362710"/>
            <a:ext cx="270000" cy="360000"/>
          </a:xfrm>
        </p:spPr>
        <p:txBody>
          <a:bodyPr/>
          <a:lstStyle/>
          <a:p>
            <a:fld id="{7C03E8FC-7EBD-BF42-9ED4-90D4B1E23A24}" type="slidenum">
              <a:rPr lang="en-US" smtClean="0"/>
              <a:t>3</a:t>
            </a:fld>
            <a:endParaRPr lang="en-US"/>
          </a:p>
        </p:txBody>
      </p:sp>
      <p:sp>
        <p:nvSpPr>
          <p:cNvPr id="6" name="Rounded Rectangle 5">
            <a:extLst>
              <a:ext uri="{FF2B5EF4-FFF2-40B4-BE49-F238E27FC236}">
                <a16:creationId xmlns:a16="http://schemas.microsoft.com/office/drawing/2014/main" id="{B6118B55-31BB-595F-CA05-E9831D2E4604}"/>
              </a:ext>
            </a:extLst>
          </p:cNvPr>
          <p:cNvSpPr/>
          <p:nvPr/>
        </p:nvSpPr>
        <p:spPr>
          <a:xfrm>
            <a:off x="1117851" y="1625759"/>
            <a:ext cx="1560195" cy="48006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ESG Reports</a:t>
            </a:r>
          </a:p>
        </p:txBody>
      </p:sp>
      <p:sp>
        <p:nvSpPr>
          <p:cNvPr id="7" name="Rounded Rectangle 6">
            <a:extLst>
              <a:ext uri="{FF2B5EF4-FFF2-40B4-BE49-F238E27FC236}">
                <a16:creationId xmlns:a16="http://schemas.microsoft.com/office/drawing/2014/main" id="{BCF3790D-0E21-6D21-797D-03AF7D153E68}"/>
              </a:ext>
            </a:extLst>
          </p:cNvPr>
          <p:cNvSpPr/>
          <p:nvPr/>
        </p:nvSpPr>
        <p:spPr>
          <a:xfrm>
            <a:off x="4083936" y="1625759"/>
            <a:ext cx="1560195" cy="480060"/>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ESG Metrics</a:t>
            </a:r>
          </a:p>
        </p:txBody>
      </p:sp>
      <p:sp>
        <p:nvSpPr>
          <p:cNvPr id="8" name="Oval 7">
            <a:extLst>
              <a:ext uri="{FF2B5EF4-FFF2-40B4-BE49-F238E27FC236}">
                <a16:creationId xmlns:a16="http://schemas.microsoft.com/office/drawing/2014/main" id="{36A317D4-2563-1BC4-E5B0-BB056098AC7B}"/>
              </a:ext>
            </a:extLst>
          </p:cNvPr>
          <p:cNvSpPr/>
          <p:nvPr/>
        </p:nvSpPr>
        <p:spPr>
          <a:xfrm>
            <a:off x="3243831" y="1735236"/>
            <a:ext cx="274320" cy="258694"/>
          </a:xfrm>
          <a:prstGeom prst="ellipse">
            <a:avLst/>
          </a:prstGeom>
          <a:solidFill>
            <a:srgbClr val="FFB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A2D22F5C-E388-8DA7-D314-26650962EA23}"/>
              </a:ext>
            </a:extLst>
          </p:cNvPr>
          <p:cNvSpPr/>
          <p:nvPr/>
        </p:nvSpPr>
        <p:spPr>
          <a:xfrm>
            <a:off x="7050021" y="2106832"/>
            <a:ext cx="1560195" cy="48006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ESG Scores</a:t>
            </a:r>
          </a:p>
        </p:txBody>
      </p:sp>
      <p:sp>
        <p:nvSpPr>
          <p:cNvPr id="10" name="Rounded Rectangle 9">
            <a:extLst>
              <a:ext uri="{FF2B5EF4-FFF2-40B4-BE49-F238E27FC236}">
                <a16:creationId xmlns:a16="http://schemas.microsoft.com/office/drawing/2014/main" id="{DC4FEADC-5A19-879B-175F-A26CE51E212D}"/>
              </a:ext>
            </a:extLst>
          </p:cNvPr>
          <p:cNvSpPr/>
          <p:nvPr/>
        </p:nvSpPr>
        <p:spPr>
          <a:xfrm>
            <a:off x="4083936" y="2586892"/>
            <a:ext cx="1560195" cy="480060"/>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ESGpedia</a:t>
            </a:r>
            <a:r>
              <a:rPr lang="en-US" sz="1400" dirty="0"/>
              <a:t> reports</a:t>
            </a:r>
          </a:p>
        </p:txBody>
      </p:sp>
      <p:sp>
        <p:nvSpPr>
          <p:cNvPr id="11" name="Oval 10">
            <a:extLst>
              <a:ext uri="{FF2B5EF4-FFF2-40B4-BE49-F238E27FC236}">
                <a16:creationId xmlns:a16="http://schemas.microsoft.com/office/drawing/2014/main" id="{59B46695-1812-9F9A-82B3-8913A98BB40E}"/>
              </a:ext>
            </a:extLst>
          </p:cNvPr>
          <p:cNvSpPr/>
          <p:nvPr/>
        </p:nvSpPr>
        <p:spPr>
          <a:xfrm>
            <a:off x="6234594" y="2217515"/>
            <a:ext cx="274320" cy="258694"/>
          </a:xfrm>
          <a:prstGeom prst="ellips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11">
            <a:extLst>
              <a:ext uri="{FF2B5EF4-FFF2-40B4-BE49-F238E27FC236}">
                <a16:creationId xmlns:a16="http://schemas.microsoft.com/office/drawing/2014/main" id="{2D39A454-A2A7-5FDB-B58F-031B2FDE175B}"/>
              </a:ext>
            </a:extLst>
          </p:cNvPr>
          <p:cNvSpPr/>
          <p:nvPr/>
        </p:nvSpPr>
        <p:spPr>
          <a:xfrm>
            <a:off x="7050021" y="3066952"/>
            <a:ext cx="1560195" cy="48006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Financials</a:t>
            </a:r>
          </a:p>
        </p:txBody>
      </p:sp>
      <p:sp>
        <p:nvSpPr>
          <p:cNvPr id="13" name="Rounded Rectangle 12">
            <a:extLst>
              <a:ext uri="{FF2B5EF4-FFF2-40B4-BE49-F238E27FC236}">
                <a16:creationId xmlns:a16="http://schemas.microsoft.com/office/drawing/2014/main" id="{7A97EBB1-F99F-7CEB-3C84-5B193B636A95}"/>
              </a:ext>
            </a:extLst>
          </p:cNvPr>
          <p:cNvSpPr/>
          <p:nvPr/>
        </p:nvSpPr>
        <p:spPr>
          <a:xfrm>
            <a:off x="10058141" y="2487828"/>
            <a:ext cx="1673245" cy="480060"/>
          </a:xfrm>
          <a:prstGeom prst="roundRect">
            <a:avLst/>
          </a:prstGeom>
          <a:solidFill>
            <a:srgbClr val="FFB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Credit Ratings</a:t>
            </a:r>
          </a:p>
        </p:txBody>
      </p:sp>
      <p:sp>
        <p:nvSpPr>
          <p:cNvPr id="16" name="Right Arrow 15">
            <a:extLst>
              <a:ext uri="{FF2B5EF4-FFF2-40B4-BE49-F238E27FC236}">
                <a16:creationId xmlns:a16="http://schemas.microsoft.com/office/drawing/2014/main" id="{EA10B433-9E4A-5C57-D447-12E51F378447}"/>
              </a:ext>
            </a:extLst>
          </p:cNvPr>
          <p:cNvSpPr/>
          <p:nvPr/>
        </p:nvSpPr>
        <p:spPr>
          <a:xfrm>
            <a:off x="2803776" y="1814165"/>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D1692EBC-5974-C724-ED67-AE613E4721D5}"/>
              </a:ext>
            </a:extLst>
          </p:cNvPr>
          <p:cNvSpPr/>
          <p:nvPr/>
        </p:nvSpPr>
        <p:spPr>
          <a:xfrm>
            <a:off x="3663883" y="1814165"/>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07310BD4-5448-B332-9D61-3551B298EF99}"/>
              </a:ext>
            </a:extLst>
          </p:cNvPr>
          <p:cNvSpPr/>
          <p:nvPr/>
        </p:nvSpPr>
        <p:spPr>
          <a:xfrm>
            <a:off x="6622305" y="2282795"/>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B5485FE7-8159-97F0-E3EC-F0FE163523B7}"/>
              </a:ext>
            </a:extLst>
          </p:cNvPr>
          <p:cNvSpPr/>
          <p:nvPr/>
        </p:nvSpPr>
        <p:spPr>
          <a:xfrm rot="2648983">
            <a:off x="5832124" y="2037239"/>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A9C502B4-491F-89C4-07F5-DEA7D7E753FE}"/>
              </a:ext>
            </a:extLst>
          </p:cNvPr>
          <p:cNvSpPr/>
          <p:nvPr/>
        </p:nvSpPr>
        <p:spPr>
          <a:xfrm rot="19463079">
            <a:off x="5838725" y="2554903"/>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7A0F184-DC15-35F3-32B7-5FB87B1BDA12}"/>
              </a:ext>
            </a:extLst>
          </p:cNvPr>
          <p:cNvSpPr/>
          <p:nvPr/>
        </p:nvSpPr>
        <p:spPr>
          <a:xfrm>
            <a:off x="9171709" y="2586892"/>
            <a:ext cx="274320" cy="258694"/>
          </a:xfrm>
          <a:prstGeom prst="ellips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BFDF451E-847B-DE74-7422-BBF7F1A164E1}"/>
              </a:ext>
            </a:extLst>
          </p:cNvPr>
          <p:cNvSpPr/>
          <p:nvPr/>
        </p:nvSpPr>
        <p:spPr>
          <a:xfrm rot="2648983">
            <a:off x="8769239" y="2406616"/>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4929D51C-6AAA-25B4-0FB7-4FE1460CD85A}"/>
              </a:ext>
            </a:extLst>
          </p:cNvPr>
          <p:cNvSpPr/>
          <p:nvPr/>
        </p:nvSpPr>
        <p:spPr>
          <a:xfrm rot="19463079">
            <a:off x="8775840" y="2924280"/>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D2356AE4-EB80-72D7-F04E-86DB854148AD}"/>
              </a:ext>
            </a:extLst>
          </p:cNvPr>
          <p:cNvSpPr/>
          <p:nvPr/>
        </p:nvSpPr>
        <p:spPr>
          <a:xfrm>
            <a:off x="9588177" y="2647659"/>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E2AA7BA-8F85-019A-5DA9-040F6AA29611}"/>
              </a:ext>
            </a:extLst>
          </p:cNvPr>
          <p:cNvSpPr txBox="1"/>
          <p:nvPr/>
        </p:nvSpPr>
        <p:spPr>
          <a:xfrm>
            <a:off x="1453910" y="2013531"/>
            <a:ext cx="1408191"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Company sustainability reports</a:t>
            </a:r>
          </a:p>
        </p:txBody>
      </p:sp>
      <p:pic>
        <p:nvPicPr>
          <p:cNvPr id="27" name="Picture 26" descr="A document with numbers and text&#10;&#10;AI-generated content may be incorrect.">
            <a:extLst>
              <a:ext uri="{FF2B5EF4-FFF2-40B4-BE49-F238E27FC236}">
                <a16:creationId xmlns:a16="http://schemas.microsoft.com/office/drawing/2014/main" id="{A9F759E6-33DC-E0C4-6593-552AEC915FE4}"/>
              </a:ext>
            </a:extLst>
          </p:cNvPr>
          <p:cNvPicPr>
            <a:picLocks noChangeAspect="1"/>
          </p:cNvPicPr>
          <p:nvPr/>
        </p:nvPicPr>
        <p:blipFill>
          <a:blip r:embed="rId3">
            <a:extLst>
              <a:ext uri="{28A0092B-C50C-407E-A947-70E740481C1C}">
                <a14:useLocalDpi xmlns:a14="http://schemas.microsoft.com/office/drawing/2010/main" val="0"/>
              </a:ext>
            </a:extLst>
          </a:blip>
          <a:srcRect l="260" r="-260"/>
          <a:stretch/>
        </p:blipFill>
        <p:spPr>
          <a:xfrm>
            <a:off x="504825" y="2487829"/>
            <a:ext cx="3093510" cy="2289776"/>
          </a:xfrm>
          <a:prstGeom prst="rect">
            <a:avLst/>
          </a:prstGeom>
        </p:spPr>
      </p:pic>
      <p:sp>
        <p:nvSpPr>
          <p:cNvPr id="30" name="TextBox 29">
            <a:extLst>
              <a:ext uri="{FF2B5EF4-FFF2-40B4-BE49-F238E27FC236}">
                <a16:creationId xmlns:a16="http://schemas.microsoft.com/office/drawing/2014/main" id="{031828D2-6293-076F-E794-EE4D3915EC8A}"/>
              </a:ext>
            </a:extLst>
          </p:cNvPr>
          <p:cNvSpPr txBox="1"/>
          <p:nvPr/>
        </p:nvSpPr>
        <p:spPr>
          <a:xfrm>
            <a:off x="959620" y="4730982"/>
            <a:ext cx="2137124" cy="215444"/>
          </a:xfrm>
          <a:prstGeom prst="rect">
            <a:avLst/>
          </a:prstGeom>
          <a:noFill/>
        </p:spPr>
        <p:txBody>
          <a:bodyPr wrap="none" rtlCol="0">
            <a:spAutoFit/>
          </a:bodyPr>
          <a:lstStyle/>
          <a:p>
            <a:r>
              <a:rPr lang="en-US" sz="800" i="1" dirty="0"/>
              <a:t>Fig. Maybank’s Sustainability Report 2023</a:t>
            </a:r>
          </a:p>
        </p:txBody>
      </p:sp>
      <p:sp>
        <p:nvSpPr>
          <p:cNvPr id="34" name="Rounded Rectangular Callout 33">
            <a:extLst>
              <a:ext uri="{FF2B5EF4-FFF2-40B4-BE49-F238E27FC236}">
                <a16:creationId xmlns:a16="http://schemas.microsoft.com/office/drawing/2014/main" id="{98BE833F-376F-E785-D1DB-138A95E9E223}"/>
              </a:ext>
            </a:extLst>
          </p:cNvPr>
          <p:cNvSpPr/>
          <p:nvPr/>
        </p:nvSpPr>
        <p:spPr>
          <a:xfrm>
            <a:off x="2845832" y="834512"/>
            <a:ext cx="1132375" cy="709719"/>
          </a:xfrm>
          <a:prstGeom prst="wedgeRoundRectCallout">
            <a:avLst>
              <a:gd name="adj1" fmla="val 1833"/>
              <a:gd name="adj2" fmla="val 72220"/>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LLM to automatically extract ESG metrics</a:t>
            </a:r>
          </a:p>
        </p:txBody>
      </p:sp>
      <p:sp>
        <p:nvSpPr>
          <p:cNvPr id="35" name="Rounded Rectangular Callout 34">
            <a:extLst>
              <a:ext uri="{FF2B5EF4-FFF2-40B4-BE49-F238E27FC236}">
                <a16:creationId xmlns:a16="http://schemas.microsoft.com/office/drawing/2014/main" id="{A22A582F-EF74-7C11-B0BD-9A135646E209}"/>
              </a:ext>
            </a:extLst>
          </p:cNvPr>
          <p:cNvSpPr/>
          <p:nvPr/>
        </p:nvSpPr>
        <p:spPr>
          <a:xfrm>
            <a:off x="6044823" y="1294956"/>
            <a:ext cx="1070316" cy="587789"/>
          </a:xfrm>
          <a:prstGeom prst="wedgeRoundRectCallout">
            <a:avLst>
              <a:gd name="adj1" fmla="val -20832"/>
              <a:gd name="adj2" fmla="val 102571"/>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ML model to calculate ESG score</a:t>
            </a:r>
          </a:p>
        </p:txBody>
      </p:sp>
      <p:sp>
        <p:nvSpPr>
          <p:cNvPr id="36" name="Rounded Rectangular Callout 35">
            <a:extLst>
              <a:ext uri="{FF2B5EF4-FFF2-40B4-BE49-F238E27FC236}">
                <a16:creationId xmlns:a16="http://schemas.microsoft.com/office/drawing/2014/main" id="{83592D1C-E50B-975D-D1DD-040A9B04797D}"/>
              </a:ext>
            </a:extLst>
          </p:cNvPr>
          <p:cNvSpPr/>
          <p:nvPr/>
        </p:nvSpPr>
        <p:spPr>
          <a:xfrm>
            <a:off x="9053018" y="1625759"/>
            <a:ext cx="1233809" cy="675734"/>
          </a:xfrm>
          <a:prstGeom prst="wedgeRoundRectCallout">
            <a:avLst>
              <a:gd name="adj1" fmla="val -26645"/>
              <a:gd name="adj2" fmla="val 85181"/>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ML model to calculate an internal Credit Rating</a:t>
            </a:r>
          </a:p>
        </p:txBody>
      </p:sp>
      <p:sp>
        <p:nvSpPr>
          <p:cNvPr id="37" name="TextBox 36">
            <a:extLst>
              <a:ext uri="{FF2B5EF4-FFF2-40B4-BE49-F238E27FC236}">
                <a16:creationId xmlns:a16="http://schemas.microsoft.com/office/drawing/2014/main" id="{87F06CDA-C791-51DE-FC65-AF5B7F7D85D0}"/>
              </a:ext>
            </a:extLst>
          </p:cNvPr>
          <p:cNvSpPr txBox="1"/>
          <p:nvPr/>
        </p:nvSpPr>
        <p:spPr>
          <a:xfrm>
            <a:off x="4135370" y="3120029"/>
            <a:ext cx="2644097" cy="1477328"/>
          </a:xfrm>
          <a:prstGeom prst="rect">
            <a:avLst/>
          </a:prstGeom>
          <a:noFill/>
        </p:spPr>
        <p:txBody>
          <a:bodyPr wrap="square" rtlCol="0">
            <a:spAutoFit/>
          </a:bodyPr>
          <a:lstStyle/>
          <a:p>
            <a:pPr>
              <a:buNone/>
            </a:pPr>
            <a:r>
              <a:rPr lang="en-SG" sz="900" b="1" dirty="0">
                <a:solidFill>
                  <a:srgbClr val="00B050"/>
                </a:solidFill>
              </a:rPr>
              <a:t>Environmental Metrics:</a:t>
            </a:r>
          </a:p>
          <a:p>
            <a:pPr>
              <a:buFont typeface="Arial" panose="020B0604020202020204" pitchFamily="34" charset="0"/>
              <a:buChar char="•"/>
            </a:pPr>
            <a:r>
              <a:rPr lang="en-SG" sz="900" dirty="0"/>
              <a:t>Fuel Consumption (Mobile Combustion)</a:t>
            </a:r>
          </a:p>
          <a:p>
            <a:pPr>
              <a:buFont typeface="Arial" panose="020B0604020202020204" pitchFamily="34" charset="0"/>
              <a:buChar char="•"/>
            </a:pPr>
            <a:r>
              <a:rPr lang="en-SG" sz="900" dirty="0"/>
              <a:t>Fuel Consumption (Stationary Combustion)</a:t>
            </a:r>
          </a:p>
          <a:p>
            <a:pPr>
              <a:buFont typeface="Arial" panose="020B0604020202020204" pitchFamily="34" charset="0"/>
              <a:buChar char="•"/>
            </a:pPr>
            <a:r>
              <a:rPr lang="en-SG" sz="900" dirty="0"/>
              <a:t>Electricity Consumption</a:t>
            </a:r>
          </a:p>
          <a:p>
            <a:pPr>
              <a:buFont typeface="Arial" panose="020B0604020202020204" pitchFamily="34" charset="0"/>
              <a:buChar char="•"/>
            </a:pPr>
            <a:r>
              <a:rPr lang="en-SG" sz="900" dirty="0"/>
              <a:t>Water Consumption</a:t>
            </a:r>
          </a:p>
          <a:p>
            <a:pPr>
              <a:buFont typeface="Arial" panose="020B0604020202020204" pitchFamily="34" charset="0"/>
              <a:buChar char="•"/>
            </a:pPr>
            <a:r>
              <a:rPr lang="en-SG" sz="900" dirty="0"/>
              <a:t>Waste Disposed (Non-hazardous)</a:t>
            </a:r>
          </a:p>
          <a:p>
            <a:pPr>
              <a:buFont typeface="Arial" panose="020B0604020202020204" pitchFamily="34" charset="0"/>
              <a:buChar char="•"/>
            </a:pPr>
            <a:r>
              <a:rPr lang="en-SG" sz="900" dirty="0"/>
              <a:t>Waste Disposed (Hazardous)</a:t>
            </a:r>
          </a:p>
          <a:p>
            <a:pPr>
              <a:buFont typeface="Arial" panose="020B0604020202020204" pitchFamily="34" charset="0"/>
              <a:buChar char="•"/>
            </a:pPr>
            <a:r>
              <a:rPr lang="en-SG" sz="900" dirty="0"/>
              <a:t>Scope 1 Emissions</a:t>
            </a:r>
          </a:p>
          <a:p>
            <a:pPr>
              <a:buFont typeface="Arial" panose="020B0604020202020204" pitchFamily="34" charset="0"/>
              <a:buChar char="•"/>
            </a:pPr>
            <a:r>
              <a:rPr lang="en-SG" sz="900" dirty="0"/>
              <a:t>Scope 2 Emissions</a:t>
            </a:r>
          </a:p>
          <a:p>
            <a:pPr>
              <a:buFont typeface="Arial" panose="020B0604020202020204" pitchFamily="34" charset="0"/>
              <a:buChar char="•"/>
            </a:pPr>
            <a:r>
              <a:rPr lang="en-SG" sz="900" dirty="0"/>
              <a:t>Emissions Intensity</a:t>
            </a:r>
          </a:p>
        </p:txBody>
      </p:sp>
      <p:sp>
        <p:nvSpPr>
          <p:cNvPr id="38" name="TextBox 37">
            <a:extLst>
              <a:ext uri="{FF2B5EF4-FFF2-40B4-BE49-F238E27FC236}">
                <a16:creationId xmlns:a16="http://schemas.microsoft.com/office/drawing/2014/main" id="{B5314852-E575-0274-C32D-003416612FF9}"/>
              </a:ext>
            </a:extLst>
          </p:cNvPr>
          <p:cNvSpPr txBox="1"/>
          <p:nvPr/>
        </p:nvSpPr>
        <p:spPr>
          <a:xfrm>
            <a:off x="7939185" y="4768634"/>
            <a:ext cx="3013687" cy="1477328"/>
          </a:xfrm>
          <a:prstGeom prst="rect">
            <a:avLst/>
          </a:prstGeom>
          <a:noFill/>
        </p:spPr>
        <p:txBody>
          <a:bodyPr wrap="square" rtlCol="0">
            <a:spAutoFit/>
          </a:bodyPr>
          <a:lstStyle/>
          <a:p>
            <a:pPr>
              <a:buNone/>
            </a:pPr>
            <a:r>
              <a:rPr lang="en-SG" sz="900" b="1" dirty="0">
                <a:solidFill>
                  <a:srgbClr val="00B0F0"/>
                </a:solidFill>
              </a:rPr>
              <a:t>Governance Metrics:</a:t>
            </a:r>
          </a:p>
          <a:p>
            <a:pPr>
              <a:buFont typeface="Arial" panose="020B0604020202020204" pitchFamily="34" charset="0"/>
              <a:buChar char="•"/>
            </a:pPr>
            <a:r>
              <a:rPr lang="en-SG" sz="900" dirty="0"/>
              <a:t>Number of Independent Board Directors</a:t>
            </a:r>
          </a:p>
          <a:p>
            <a:pPr>
              <a:buFont typeface="Arial" panose="020B0604020202020204" pitchFamily="34" charset="0"/>
              <a:buChar char="•"/>
            </a:pPr>
            <a:r>
              <a:rPr lang="en-SG" sz="900" dirty="0"/>
              <a:t>Number of Women on the Board of Directors</a:t>
            </a:r>
          </a:p>
          <a:p>
            <a:pPr>
              <a:buFont typeface="Arial" panose="020B0604020202020204" pitchFamily="34" charset="0"/>
              <a:buChar char="•"/>
            </a:pPr>
            <a:r>
              <a:rPr lang="en-SG" sz="900" dirty="0"/>
              <a:t>Anti-corruption policy presence</a:t>
            </a:r>
          </a:p>
          <a:p>
            <a:pPr>
              <a:buFont typeface="Arial" panose="020B0604020202020204" pitchFamily="34" charset="0"/>
              <a:buChar char="•"/>
            </a:pPr>
            <a:r>
              <a:rPr lang="en-SG" sz="900" dirty="0"/>
              <a:t>Number of operations assessed for corruption risks</a:t>
            </a:r>
          </a:p>
          <a:p>
            <a:pPr>
              <a:buFont typeface="Arial" panose="020B0604020202020204" pitchFamily="34" charset="0"/>
              <a:buChar char="•"/>
            </a:pPr>
            <a:r>
              <a:rPr lang="en-SG" sz="900" dirty="0"/>
              <a:t>Significant risks related to corruption identified</a:t>
            </a:r>
          </a:p>
          <a:p>
            <a:pPr>
              <a:buFont typeface="Arial" panose="020B0604020202020204" pitchFamily="34" charset="0"/>
              <a:buChar char="•"/>
            </a:pPr>
            <a:r>
              <a:rPr lang="en-SG" sz="900" dirty="0"/>
              <a:t>Number and percentage of governance body members trained on anti-corruption</a:t>
            </a:r>
          </a:p>
          <a:p>
            <a:pPr>
              <a:buFont typeface="Arial" panose="020B0604020202020204" pitchFamily="34" charset="0"/>
              <a:buChar char="•"/>
            </a:pPr>
            <a:r>
              <a:rPr lang="en-SG" sz="900" dirty="0"/>
              <a:t>Number and percentage of employees trained on anti-corruption</a:t>
            </a:r>
          </a:p>
        </p:txBody>
      </p:sp>
      <p:sp>
        <p:nvSpPr>
          <p:cNvPr id="39" name="TextBox 38">
            <a:extLst>
              <a:ext uri="{FF2B5EF4-FFF2-40B4-BE49-F238E27FC236}">
                <a16:creationId xmlns:a16="http://schemas.microsoft.com/office/drawing/2014/main" id="{784E6447-B92F-9B82-F40A-E0DBB425E789}"/>
              </a:ext>
            </a:extLst>
          </p:cNvPr>
          <p:cNvSpPr txBox="1"/>
          <p:nvPr/>
        </p:nvSpPr>
        <p:spPr>
          <a:xfrm>
            <a:off x="4431815" y="2013275"/>
            <a:ext cx="1325707"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Those found in </a:t>
            </a:r>
            <a:r>
              <a:rPr lang="en-US" sz="1000" b="1" dirty="0" err="1"/>
              <a:t>ESGpedia</a:t>
            </a:r>
            <a:r>
              <a:rPr lang="en-US" sz="1000" dirty="0"/>
              <a:t> reports</a:t>
            </a:r>
          </a:p>
        </p:txBody>
      </p:sp>
      <p:sp>
        <p:nvSpPr>
          <p:cNvPr id="40" name="TextBox 39">
            <a:extLst>
              <a:ext uri="{FF2B5EF4-FFF2-40B4-BE49-F238E27FC236}">
                <a16:creationId xmlns:a16="http://schemas.microsoft.com/office/drawing/2014/main" id="{C55CFC6E-1672-3B48-A632-37B9C54ABEBF}"/>
              </a:ext>
            </a:extLst>
          </p:cNvPr>
          <p:cNvSpPr txBox="1"/>
          <p:nvPr/>
        </p:nvSpPr>
        <p:spPr>
          <a:xfrm>
            <a:off x="7225364" y="2497306"/>
            <a:ext cx="1560195"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Follows </a:t>
            </a:r>
            <a:r>
              <a:rPr lang="en-US" sz="1000" b="1" dirty="0"/>
              <a:t>Morningstar</a:t>
            </a:r>
            <a:r>
              <a:rPr lang="en-US" sz="1000" dirty="0"/>
              <a:t>’s ESG Rating</a:t>
            </a:r>
          </a:p>
        </p:txBody>
      </p:sp>
      <p:sp>
        <p:nvSpPr>
          <p:cNvPr id="43" name="5-point Star 42">
            <a:extLst>
              <a:ext uri="{FF2B5EF4-FFF2-40B4-BE49-F238E27FC236}">
                <a16:creationId xmlns:a16="http://schemas.microsoft.com/office/drawing/2014/main" id="{95996991-4F4C-88C6-FA71-154DA512BF84}"/>
              </a:ext>
            </a:extLst>
          </p:cNvPr>
          <p:cNvSpPr/>
          <p:nvPr/>
        </p:nvSpPr>
        <p:spPr>
          <a:xfrm>
            <a:off x="3509155" y="1679975"/>
            <a:ext cx="101305" cy="8453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F80C2506-C815-5059-7602-AE834388F7AF}"/>
              </a:ext>
            </a:extLst>
          </p:cNvPr>
          <p:cNvPicPr>
            <a:picLocks noChangeAspect="1"/>
          </p:cNvPicPr>
          <p:nvPr/>
        </p:nvPicPr>
        <p:blipFill>
          <a:blip r:embed="rId4" cstate="screen">
            <a:lum/>
            <a:extLst>
              <a:ext uri="{28A0092B-C50C-407E-A947-70E740481C1C}">
                <a14:useLocalDpi xmlns:a14="http://schemas.microsoft.com/office/drawing/2010/main"/>
              </a:ext>
            </a:extLst>
          </a:blip>
          <a:stretch>
            <a:fillRect/>
          </a:stretch>
        </p:blipFill>
        <p:spPr>
          <a:xfrm>
            <a:off x="3941788" y="2452843"/>
            <a:ext cx="305689" cy="305689"/>
          </a:xfrm>
          <a:prstGeom prst="rect">
            <a:avLst/>
          </a:prstGeom>
        </p:spPr>
      </p:pic>
      <p:sp>
        <p:nvSpPr>
          <p:cNvPr id="45" name="TextBox 44">
            <a:extLst>
              <a:ext uri="{FF2B5EF4-FFF2-40B4-BE49-F238E27FC236}">
                <a16:creationId xmlns:a16="http://schemas.microsoft.com/office/drawing/2014/main" id="{944CE8C3-0C51-15E6-0C3A-16BCAB6B8B86}"/>
              </a:ext>
            </a:extLst>
          </p:cNvPr>
          <p:cNvSpPr txBox="1"/>
          <p:nvPr/>
        </p:nvSpPr>
        <p:spPr>
          <a:xfrm>
            <a:off x="4135370" y="4509940"/>
            <a:ext cx="3895618" cy="1892826"/>
          </a:xfrm>
          <a:prstGeom prst="rect">
            <a:avLst/>
          </a:prstGeom>
          <a:noFill/>
        </p:spPr>
        <p:txBody>
          <a:bodyPr wrap="none" rtlCol="0">
            <a:spAutoFit/>
          </a:bodyPr>
          <a:lstStyle/>
          <a:p>
            <a:pPr>
              <a:buNone/>
            </a:pPr>
            <a:r>
              <a:rPr lang="en-SG" sz="900" b="1" dirty="0">
                <a:solidFill>
                  <a:srgbClr val="FF0000"/>
                </a:solidFill>
              </a:rPr>
              <a:t>Social Metrics:</a:t>
            </a:r>
          </a:p>
          <a:p>
            <a:pPr>
              <a:buFont typeface="Arial" panose="020B0604020202020204" pitchFamily="34" charset="0"/>
              <a:buChar char="•"/>
            </a:pPr>
            <a:r>
              <a:rPr lang="en-SG" sz="900" dirty="0"/>
              <a:t>Current Employee by Age Group (Under 30, 30-50, Over 50)</a:t>
            </a:r>
          </a:p>
          <a:p>
            <a:pPr>
              <a:buFont typeface="Arial" panose="020B0604020202020204" pitchFamily="34" charset="0"/>
              <a:buChar char="•"/>
            </a:pPr>
            <a:r>
              <a:rPr lang="en-SG" sz="900" dirty="0"/>
              <a:t>Current Employee by Gender (Male, Female)</a:t>
            </a:r>
          </a:p>
          <a:p>
            <a:pPr>
              <a:buFont typeface="Arial" panose="020B0604020202020204" pitchFamily="34" charset="0"/>
              <a:buChar char="•"/>
            </a:pPr>
            <a:r>
              <a:rPr lang="en-SG" sz="900" dirty="0"/>
              <a:t>Total Number of Current Employees</a:t>
            </a:r>
          </a:p>
          <a:p>
            <a:pPr>
              <a:buFont typeface="Arial" panose="020B0604020202020204" pitchFamily="34" charset="0"/>
              <a:buChar char="•"/>
            </a:pPr>
            <a:r>
              <a:rPr lang="en-SG" sz="900" dirty="0"/>
              <a:t>Total number of new employees hired by age group &amp; gender</a:t>
            </a:r>
          </a:p>
          <a:p>
            <a:pPr>
              <a:buFont typeface="Arial" panose="020B0604020202020204" pitchFamily="34" charset="0"/>
              <a:buChar char="•"/>
            </a:pPr>
            <a:r>
              <a:rPr lang="en-SG" sz="900" dirty="0"/>
              <a:t>Number of fatalities as a result of work-related injury</a:t>
            </a:r>
          </a:p>
          <a:p>
            <a:pPr>
              <a:buFont typeface="Arial" panose="020B0604020202020204" pitchFamily="34" charset="0"/>
              <a:buChar char="•"/>
            </a:pPr>
            <a:r>
              <a:rPr lang="en-SG" sz="900" dirty="0"/>
              <a:t>Number of high-consequence work-related injuries</a:t>
            </a:r>
          </a:p>
          <a:p>
            <a:pPr>
              <a:buFont typeface="Arial" panose="020B0604020202020204" pitchFamily="34" charset="0"/>
              <a:buChar char="•"/>
            </a:pPr>
            <a:r>
              <a:rPr lang="en-SG" sz="900" dirty="0"/>
              <a:t>Number of recordable work-related injuries</a:t>
            </a:r>
          </a:p>
          <a:p>
            <a:pPr>
              <a:buFont typeface="Arial" panose="020B0604020202020204" pitchFamily="34" charset="0"/>
              <a:buChar char="•"/>
            </a:pPr>
            <a:r>
              <a:rPr lang="en-SG" sz="900" dirty="0"/>
              <a:t>Number of recordable work-related ill-health cases</a:t>
            </a:r>
          </a:p>
          <a:p>
            <a:pPr>
              <a:buFont typeface="Arial" panose="020B0604020202020204" pitchFamily="34" charset="0"/>
              <a:buChar char="•"/>
            </a:pPr>
            <a:r>
              <a:rPr lang="en-SG" sz="900" dirty="0"/>
              <a:t>Average training hours per employee (Total, Male, Female)</a:t>
            </a:r>
          </a:p>
          <a:p>
            <a:pPr>
              <a:buFont typeface="Arial" panose="020B0604020202020204" pitchFamily="34" charset="0"/>
              <a:buChar char="•"/>
            </a:pPr>
            <a:r>
              <a:rPr lang="en-SG" sz="900" dirty="0"/>
              <a:t>Type and scope of programs implemented to upgrade employee skills</a:t>
            </a:r>
          </a:p>
          <a:p>
            <a:pPr>
              <a:buFont typeface="Arial" panose="020B0604020202020204" pitchFamily="34" charset="0"/>
              <a:buChar char="•"/>
            </a:pPr>
            <a:r>
              <a:rPr lang="en-SG" sz="900" dirty="0"/>
              <a:t>Employees who received a performance and career review (by gender)</a:t>
            </a:r>
          </a:p>
          <a:p>
            <a:endParaRPr lang="en-US" sz="900" dirty="0"/>
          </a:p>
        </p:txBody>
      </p:sp>
    </p:spTree>
    <p:extLst>
      <p:ext uri="{BB962C8B-B14F-4D97-AF65-F5344CB8AC3E}">
        <p14:creationId xmlns:p14="http://schemas.microsoft.com/office/powerpoint/2010/main" val="2537147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ESG Metric Extraction Framework</a:t>
            </a:r>
            <a:endParaRPr lang="en-SG" dirty="0"/>
          </a:p>
        </p:txBody>
      </p:sp>
      <p:sp>
        <p:nvSpPr>
          <p:cNvPr id="3" name="Content Placeholder 2"/>
          <p:cNvSpPr>
            <a:spLocks noGrp="1"/>
          </p:cNvSpPr>
          <p:nvPr>
            <p:ph idx="1"/>
          </p:nvPr>
        </p:nvSpPr>
        <p:spPr>
          <a:xfrm>
            <a:off x="255480" y="853162"/>
            <a:ext cx="11681039" cy="1098430"/>
          </a:xfrm>
        </p:spPr>
        <p:txBody>
          <a:bodyPr>
            <a:normAutofit/>
          </a:bodyPr>
          <a:lstStyle/>
          <a:p>
            <a:pPr marL="0" indent="0">
              <a:buNone/>
            </a:pPr>
            <a:r>
              <a:rPr lang="en-SG" sz="1400" dirty="0"/>
              <a:t>Task Overview: Framework is designed for an AI model to analyse ESG (environmental, social and governance) reports and extract key ESG metrics based on a predefined list. Extracted data is then structured into an Excel file for further analysis</a:t>
            </a:r>
          </a:p>
        </p:txBody>
      </p:sp>
      <p:sp>
        <p:nvSpPr>
          <p:cNvPr id="4" name="Slide Number Placeholder 3"/>
          <p:cNvSpPr>
            <a:spLocks noGrp="1"/>
          </p:cNvSpPr>
          <p:nvPr>
            <p:ph type="sldNum" sz="quarter" idx="12"/>
          </p:nvPr>
        </p:nvSpPr>
        <p:spPr/>
        <p:txBody>
          <a:bodyPr/>
          <a:lstStyle/>
          <a:p>
            <a:fld id="{7C03E8FC-7EBD-BF42-9ED4-90D4B1E23A24}" type="slidenum">
              <a:rPr lang="en-US" smtClean="0"/>
              <a:t>4</a:t>
            </a:fld>
            <a:endParaRPr lang="en-US" dirty="0"/>
          </a:p>
        </p:txBody>
      </p:sp>
      <p:sp>
        <p:nvSpPr>
          <p:cNvPr id="5" name="Text Placeholder 4"/>
          <p:cNvSpPr>
            <a:spLocks noGrp="1"/>
          </p:cNvSpPr>
          <p:nvPr>
            <p:ph type="body" sz="quarter" idx="13"/>
          </p:nvPr>
        </p:nvSpPr>
        <p:spPr/>
        <p:txBody>
          <a:bodyPr/>
          <a:lstStyle/>
          <a:p>
            <a:endParaRPr lang="en-SG"/>
          </a:p>
        </p:txBody>
      </p:sp>
      <p:pic>
        <p:nvPicPr>
          <p:cNvPr id="8" name="Picture 7" descr="A group of circular icons with text&#10;&#10;AI-generated content may be incorrect.">
            <a:extLst>
              <a:ext uri="{FF2B5EF4-FFF2-40B4-BE49-F238E27FC236}">
                <a16:creationId xmlns:a16="http://schemas.microsoft.com/office/drawing/2014/main" id="{34573825-330E-CE5A-BFCE-489D65E4D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12" y="1475741"/>
            <a:ext cx="3313599" cy="1948522"/>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A329FE50-B97A-5A73-D61F-8A5C57A69533}"/>
              </a:ext>
            </a:extLst>
          </p:cNvPr>
          <p:cNvSpPr txBox="1"/>
          <p:nvPr/>
        </p:nvSpPr>
        <p:spPr>
          <a:xfrm>
            <a:off x="255480" y="3489816"/>
            <a:ext cx="3442461" cy="461665"/>
          </a:xfrm>
          <a:prstGeom prst="rect">
            <a:avLst/>
          </a:prstGeom>
          <a:noFill/>
        </p:spPr>
        <p:txBody>
          <a:bodyPr wrap="square" rtlCol="0">
            <a:spAutoFit/>
          </a:bodyPr>
          <a:lstStyle/>
          <a:p>
            <a:r>
              <a:rPr lang="en-US" sz="1200" dirty="0"/>
              <a:t>1. Input company sustainability report and framework scans the text for key metrics</a:t>
            </a:r>
          </a:p>
        </p:txBody>
      </p:sp>
      <p:pic>
        <p:nvPicPr>
          <p:cNvPr id="12" name="Picture 11" descr="A screenshot of a report&#10;&#10;AI-generated content may be incorrect.">
            <a:extLst>
              <a:ext uri="{FF2B5EF4-FFF2-40B4-BE49-F238E27FC236}">
                <a16:creationId xmlns:a16="http://schemas.microsoft.com/office/drawing/2014/main" id="{D976BE21-42A8-25D3-3C39-E11FF15B2F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9135" y="1563516"/>
            <a:ext cx="3699653" cy="1964417"/>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BF148194-63DF-51D1-8F9C-D9F32E21E18A}"/>
              </a:ext>
            </a:extLst>
          </p:cNvPr>
          <p:cNvSpPr txBox="1"/>
          <p:nvPr/>
        </p:nvSpPr>
        <p:spPr>
          <a:xfrm>
            <a:off x="4279052" y="3601627"/>
            <a:ext cx="3919817" cy="276999"/>
          </a:xfrm>
          <a:prstGeom prst="rect">
            <a:avLst/>
          </a:prstGeom>
          <a:noFill/>
        </p:spPr>
        <p:txBody>
          <a:bodyPr wrap="square" rtlCol="0">
            <a:spAutoFit/>
          </a:bodyPr>
          <a:lstStyle/>
          <a:p>
            <a:r>
              <a:rPr lang="en-US" sz="1200" dirty="0"/>
              <a:t>2. Extract numerical values if explicitly stated</a:t>
            </a:r>
          </a:p>
        </p:txBody>
      </p:sp>
      <p:pic>
        <p:nvPicPr>
          <p:cNvPr id="15" name="Picture 14" descr="A white and black page with text&#10;&#10;AI-generated content may be incorrect.">
            <a:extLst>
              <a:ext uri="{FF2B5EF4-FFF2-40B4-BE49-F238E27FC236}">
                <a16:creationId xmlns:a16="http://schemas.microsoft.com/office/drawing/2014/main" id="{5D130433-79C9-EEC5-3A35-4BE88F70C8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28812" y="1489823"/>
            <a:ext cx="3027676" cy="2111804"/>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4E6B7145-16F3-9E73-7E7E-4E2590E438CA}"/>
              </a:ext>
            </a:extLst>
          </p:cNvPr>
          <p:cNvSpPr txBox="1"/>
          <p:nvPr/>
        </p:nvSpPr>
        <p:spPr>
          <a:xfrm>
            <a:off x="8729963" y="3693959"/>
            <a:ext cx="3206556" cy="461665"/>
          </a:xfrm>
          <a:prstGeom prst="rect">
            <a:avLst/>
          </a:prstGeom>
          <a:noFill/>
        </p:spPr>
        <p:txBody>
          <a:bodyPr wrap="square" rtlCol="0">
            <a:spAutoFit/>
          </a:bodyPr>
          <a:lstStyle/>
          <a:p>
            <a:r>
              <a:rPr lang="en-US" sz="1200" dirty="0"/>
              <a:t>3. Use NLP techniques to infer or calculate estimates when direct values are missing</a:t>
            </a:r>
          </a:p>
        </p:txBody>
      </p:sp>
      <p:sp>
        <p:nvSpPr>
          <p:cNvPr id="17" name="Right Arrow 16">
            <a:extLst>
              <a:ext uri="{FF2B5EF4-FFF2-40B4-BE49-F238E27FC236}">
                <a16:creationId xmlns:a16="http://schemas.microsoft.com/office/drawing/2014/main" id="{7455715A-A771-33EF-ECE8-E3345511AE29}"/>
              </a:ext>
            </a:extLst>
          </p:cNvPr>
          <p:cNvSpPr/>
          <p:nvPr/>
        </p:nvSpPr>
        <p:spPr>
          <a:xfrm>
            <a:off x="3852345" y="2502740"/>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9A8D66B3-C4E1-612B-97A0-3AA5A9AD773C}"/>
              </a:ext>
            </a:extLst>
          </p:cNvPr>
          <p:cNvSpPr/>
          <p:nvPr/>
        </p:nvSpPr>
        <p:spPr>
          <a:xfrm>
            <a:off x="8292022" y="2502740"/>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D807C26E-7264-E13D-C592-CCF3005BC586}"/>
              </a:ext>
            </a:extLst>
          </p:cNvPr>
          <p:cNvSpPr/>
          <p:nvPr/>
        </p:nvSpPr>
        <p:spPr>
          <a:xfrm rot="5400000">
            <a:off x="10153130" y="4241518"/>
            <a:ext cx="360221"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5AE63A91-897A-D558-473D-3217284265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8259" y="4731919"/>
            <a:ext cx="5961219" cy="562565"/>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TextBox 21">
            <a:extLst>
              <a:ext uri="{FF2B5EF4-FFF2-40B4-BE49-F238E27FC236}">
                <a16:creationId xmlns:a16="http://schemas.microsoft.com/office/drawing/2014/main" id="{0CBD790D-2F71-37B6-77A0-340F0537A5D7}"/>
              </a:ext>
            </a:extLst>
          </p:cNvPr>
          <p:cNvSpPr txBox="1"/>
          <p:nvPr/>
        </p:nvSpPr>
        <p:spPr>
          <a:xfrm>
            <a:off x="5137176" y="5392939"/>
            <a:ext cx="6575212" cy="461665"/>
          </a:xfrm>
          <a:prstGeom prst="rect">
            <a:avLst/>
          </a:prstGeom>
          <a:noFill/>
        </p:spPr>
        <p:txBody>
          <a:bodyPr wrap="square" rtlCol="0">
            <a:spAutoFit/>
          </a:bodyPr>
          <a:lstStyle/>
          <a:p>
            <a:r>
              <a:rPr lang="en-US" sz="1200" dirty="0"/>
              <a:t>4. Provide context by including relevant supporting text, and include remarks when information is inferred or indirectly mentioned.</a:t>
            </a:r>
          </a:p>
        </p:txBody>
      </p:sp>
      <p:sp>
        <p:nvSpPr>
          <p:cNvPr id="23" name="Right Arrow 22">
            <a:extLst>
              <a:ext uri="{FF2B5EF4-FFF2-40B4-BE49-F238E27FC236}">
                <a16:creationId xmlns:a16="http://schemas.microsoft.com/office/drawing/2014/main" id="{CD2B687D-0EF4-73FB-166A-D4C7B6A52063}"/>
              </a:ext>
            </a:extLst>
          </p:cNvPr>
          <p:cNvSpPr/>
          <p:nvPr/>
        </p:nvSpPr>
        <p:spPr>
          <a:xfrm rot="10800000">
            <a:off x="4625457" y="4909684"/>
            <a:ext cx="333555" cy="2070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screenshot of a computer&#10;&#10;AI-generated content may be incorrect.">
            <a:extLst>
              <a:ext uri="{FF2B5EF4-FFF2-40B4-BE49-F238E27FC236}">
                <a16:creationId xmlns:a16="http://schemas.microsoft.com/office/drawing/2014/main" id="{4A2AFE58-E0A5-FD46-1A84-6C246703FC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9636" y="4017035"/>
            <a:ext cx="3866573" cy="2153612"/>
          </a:xfrm>
          <a:prstGeom prst="rect">
            <a:avLst/>
          </a:prstGeom>
          <a:solidFill>
            <a:srgbClr val="FFFFFF">
              <a:shade val="85000"/>
            </a:srgbClr>
          </a:solidFill>
          <a:ln w="889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8869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51B1-2A20-AF58-B979-00A098818972}"/>
              </a:ext>
            </a:extLst>
          </p:cNvPr>
          <p:cNvSpPr>
            <a:spLocks noGrp="1"/>
          </p:cNvSpPr>
          <p:nvPr>
            <p:ph type="title"/>
          </p:nvPr>
        </p:nvSpPr>
        <p:spPr/>
        <p:txBody>
          <a:bodyPr>
            <a:normAutofit fontScale="90000"/>
          </a:bodyPr>
          <a:lstStyle/>
          <a:p>
            <a:r>
              <a:rPr lang="en-US" dirty="0"/>
              <a:t>Output Format, LLM Techniques for extraction and Expected Response</a:t>
            </a:r>
          </a:p>
        </p:txBody>
      </p:sp>
      <p:sp>
        <p:nvSpPr>
          <p:cNvPr id="4" name="Slide Number Placeholder 3">
            <a:extLst>
              <a:ext uri="{FF2B5EF4-FFF2-40B4-BE49-F238E27FC236}">
                <a16:creationId xmlns:a16="http://schemas.microsoft.com/office/drawing/2014/main" id="{94E5ABB8-5DA9-FB2D-6935-433D5AA486CF}"/>
              </a:ext>
            </a:extLst>
          </p:cNvPr>
          <p:cNvSpPr>
            <a:spLocks noGrp="1"/>
          </p:cNvSpPr>
          <p:nvPr>
            <p:ph type="sldNum" sz="quarter" idx="12"/>
          </p:nvPr>
        </p:nvSpPr>
        <p:spPr/>
        <p:txBody>
          <a:bodyPr/>
          <a:lstStyle/>
          <a:p>
            <a:fld id="{7C03E8FC-7EBD-BF42-9ED4-90D4B1E23A24}" type="slidenum">
              <a:rPr lang="en-US" smtClean="0"/>
              <a:t>5</a:t>
            </a:fld>
            <a:endParaRPr lang="en-US" dirty="0"/>
          </a:p>
        </p:txBody>
      </p:sp>
      <p:sp>
        <p:nvSpPr>
          <p:cNvPr id="5" name="Text Placeholder 4">
            <a:extLst>
              <a:ext uri="{FF2B5EF4-FFF2-40B4-BE49-F238E27FC236}">
                <a16:creationId xmlns:a16="http://schemas.microsoft.com/office/drawing/2014/main" id="{5CDACCDF-325F-2021-1514-599AD37E3B02}"/>
              </a:ext>
            </a:extLst>
          </p:cNvPr>
          <p:cNvSpPr>
            <a:spLocks noGrp="1"/>
          </p:cNvSpPr>
          <p:nvPr>
            <p:ph type="body" sz="quarter" idx="13"/>
          </p:nvPr>
        </p:nvSpPr>
        <p:spPr/>
        <p:txBody>
          <a:bodyPr/>
          <a:lstStyle/>
          <a:p>
            <a:endParaRPr lang="en-US"/>
          </a:p>
        </p:txBody>
      </p:sp>
      <p:sp>
        <p:nvSpPr>
          <p:cNvPr id="6" name="TextBox 5">
            <a:extLst>
              <a:ext uri="{FF2B5EF4-FFF2-40B4-BE49-F238E27FC236}">
                <a16:creationId xmlns:a16="http://schemas.microsoft.com/office/drawing/2014/main" id="{E23DF3F7-1D88-0744-468B-74C4C5EDFFEF}"/>
              </a:ext>
            </a:extLst>
          </p:cNvPr>
          <p:cNvSpPr txBox="1"/>
          <p:nvPr/>
        </p:nvSpPr>
        <p:spPr>
          <a:xfrm>
            <a:off x="249331" y="4372788"/>
            <a:ext cx="6220226" cy="1754326"/>
          </a:xfrm>
          <a:prstGeom prst="rect">
            <a:avLst/>
          </a:prstGeom>
          <a:noFill/>
        </p:spPr>
        <p:txBody>
          <a:bodyPr wrap="square" rtlCol="0">
            <a:spAutoFit/>
          </a:bodyPr>
          <a:lstStyle/>
          <a:p>
            <a:pPr>
              <a:buNone/>
            </a:pPr>
            <a:r>
              <a:rPr lang="en-SG" sz="1200" b="1" dirty="0">
                <a:solidFill>
                  <a:srgbClr val="ED7D31"/>
                </a:solidFill>
              </a:rPr>
              <a:t>Output Format</a:t>
            </a:r>
          </a:p>
          <a:p>
            <a:pPr>
              <a:buFont typeface="Arial" panose="020B0604020202020204" pitchFamily="34" charset="0"/>
              <a:buChar char="•"/>
            </a:pPr>
            <a:r>
              <a:rPr lang="en-SG" sz="1200" b="1" dirty="0"/>
              <a:t>File Type:</a:t>
            </a:r>
            <a:r>
              <a:rPr lang="en-SG" sz="1200" dirty="0"/>
              <a:t> Excel (.xlsx)</a:t>
            </a:r>
          </a:p>
          <a:p>
            <a:pPr>
              <a:buFont typeface="Arial" panose="020B0604020202020204" pitchFamily="34" charset="0"/>
              <a:buChar char="•"/>
            </a:pPr>
            <a:r>
              <a:rPr lang="en-SG" sz="1200" b="1" dirty="0"/>
              <a:t>File Naming Convention:</a:t>
            </a:r>
            <a:r>
              <a:rPr lang="en-SG" sz="1200" dirty="0"/>
              <a:t> {Report Name}_</a:t>
            </a:r>
            <a:r>
              <a:rPr lang="en-SG" sz="1200" dirty="0" err="1"/>
              <a:t>Extracted_ESG_Metrics.xlsx</a:t>
            </a:r>
            <a:endParaRPr lang="en-SG" sz="1200" dirty="0"/>
          </a:p>
          <a:p>
            <a:pPr>
              <a:buFont typeface="Arial" panose="020B0604020202020204" pitchFamily="34" charset="0"/>
              <a:buChar char="•"/>
            </a:pPr>
            <a:r>
              <a:rPr lang="en-SG" sz="1200" b="1" dirty="0"/>
              <a:t>Columns in the Output File:</a:t>
            </a:r>
            <a:endParaRPr lang="en-SG" sz="1200" dirty="0"/>
          </a:p>
          <a:p>
            <a:pPr marL="742950" lvl="1" indent="-285750">
              <a:buFont typeface="Arial" panose="020B0604020202020204" pitchFamily="34" charset="0"/>
              <a:buChar char="•"/>
            </a:pPr>
            <a:r>
              <a:rPr lang="en-SG" sz="1200" b="1" dirty="0"/>
              <a:t>Metric Name</a:t>
            </a:r>
            <a:r>
              <a:rPr lang="en-SG" sz="1200" dirty="0"/>
              <a:t> – The ESG metric extracted</a:t>
            </a:r>
          </a:p>
          <a:p>
            <a:pPr marL="742950" lvl="1" indent="-285750">
              <a:buFont typeface="Arial" panose="020B0604020202020204" pitchFamily="34" charset="0"/>
              <a:buChar char="•"/>
            </a:pPr>
            <a:r>
              <a:rPr lang="en-SG" sz="1200" b="1" dirty="0"/>
              <a:t>Extracted Value</a:t>
            </a:r>
            <a:r>
              <a:rPr lang="en-SG" sz="1200" dirty="0"/>
              <a:t> – The numerical or qualitative value found</a:t>
            </a:r>
          </a:p>
          <a:p>
            <a:pPr marL="742950" lvl="1" indent="-285750">
              <a:buFont typeface="Arial" panose="020B0604020202020204" pitchFamily="34" charset="0"/>
              <a:buChar char="•"/>
            </a:pPr>
            <a:r>
              <a:rPr lang="en-SG" sz="1200" b="1" dirty="0"/>
              <a:t>Extracted Text</a:t>
            </a:r>
            <a:r>
              <a:rPr lang="en-SG" sz="1200" dirty="0"/>
              <a:t> – Supporting text from the report</a:t>
            </a:r>
          </a:p>
          <a:p>
            <a:pPr marL="742950" lvl="1" indent="-285750">
              <a:buFont typeface="Arial" panose="020B0604020202020204" pitchFamily="34" charset="0"/>
              <a:buChar char="•"/>
            </a:pPr>
            <a:r>
              <a:rPr lang="en-SG" sz="1200" b="1" dirty="0"/>
              <a:t>Remarks</a:t>
            </a:r>
            <a:r>
              <a:rPr lang="en-SG" sz="1200" dirty="0"/>
              <a:t> – Notes on whether the value was directly found, estimated, or inferred</a:t>
            </a:r>
          </a:p>
        </p:txBody>
      </p:sp>
      <p:pic>
        <p:nvPicPr>
          <p:cNvPr id="8" name="Picture 7" descr="A screenshot of a computer&#10;&#10;AI-generated content may be incorrect.">
            <a:extLst>
              <a:ext uri="{FF2B5EF4-FFF2-40B4-BE49-F238E27FC236}">
                <a16:creationId xmlns:a16="http://schemas.microsoft.com/office/drawing/2014/main" id="{71E2E411-7744-5D96-D564-2538316E7F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799" y="891554"/>
            <a:ext cx="6147758" cy="3424192"/>
          </a:xfrm>
          <a:prstGeom prst="rect">
            <a:avLst/>
          </a:prstGeom>
        </p:spPr>
      </p:pic>
      <p:sp>
        <p:nvSpPr>
          <p:cNvPr id="9" name="TextBox 8">
            <a:extLst>
              <a:ext uri="{FF2B5EF4-FFF2-40B4-BE49-F238E27FC236}">
                <a16:creationId xmlns:a16="http://schemas.microsoft.com/office/drawing/2014/main" id="{F472A4D0-510C-CEC0-CC8A-D524F0EEA1E6}"/>
              </a:ext>
            </a:extLst>
          </p:cNvPr>
          <p:cNvSpPr txBox="1"/>
          <p:nvPr/>
        </p:nvSpPr>
        <p:spPr>
          <a:xfrm>
            <a:off x="6767006" y="964909"/>
            <a:ext cx="4876800" cy="2862322"/>
          </a:xfrm>
          <a:prstGeom prst="rect">
            <a:avLst/>
          </a:prstGeom>
          <a:noFill/>
        </p:spPr>
        <p:txBody>
          <a:bodyPr wrap="square" rtlCol="0">
            <a:spAutoFit/>
          </a:bodyPr>
          <a:lstStyle/>
          <a:p>
            <a:pPr>
              <a:buNone/>
            </a:pPr>
            <a:r>
              <a:rPr lang="en-SG" sz="1200" b="1" dirty="0">
                <a:solidFill>
                  <a:srgbClr val="ED7D31"/>
                </a:solidFill>
              </a:rPr>
              <a:t>LLM Techniques for Extraction</a:t>
            </a:r>
          </a:p>
          <a:p>
            <a:pPr>
              <a:buFont typeface="Arial" panose="020B0604020202020204" pitchFamily="34" charset="0"/>
              <a:buChar char="•"/>
            </a:pPr>
            <a:r>
              <a:rPr lang="en-SG" sz="1200" dirty="0"/>
              <a:t>Identify percentages, proportions, or related numerical statements.</a:t>
            </a:r>
          </a:p>
          <a:p>
            <a:pPr>
              <a:buFont typeface="Arial" panose="020B0604020202020204" pitchFamily="34" charset="0"/>
              <a:buChar char="•"/>
            </a:pPr>
            <a:r>
              <a:rPr lang="en-SG" sz="1200" dirty="0"/>
              <a:t>Convert numbers mentioned in text format into numerical values.</a:t>
            </a:r>
          </a:p>
          <a:p>
            <a:pPr>
              <a:buFont typeface="Arial" panose="020B0604020202020204" pitchFamily="34" charset="0"/>
              <a:buChar char="•"/>
            </a:pPr>
            <a:r>
              <a:rPr lang="en-SG" sz="1200" dirty="0"/>
              <a:t>Cross-check other sections of the report for implied figures.</a:t>
            </a:r>
          </a:p>
          <a:p>
            <a:pPr>
              <a:buFont typeface="Arial" panose="020B0604020202020204" pitchFamily="34" charset="0"/>
              <a:buChar char="•"/>
            </a:pPr>
            <a:r>
              <a:rPr lang="en-SG" sz="1200" dirty="0"/>
              <a:t>Identify qualitative statements suggesting approximate values.</a:t>
            </a:r>
          </a:p>
          <a:p>
            <a:pPr>
              <a:buFont typeface="Arial" panose="020B0604020202020204" pitchFamily="34" charset="0"/>
              <a:buChar char="•"/>
            </a:pPr>
            <a:endParaRPr lang="en-SG" sz="1200" dirty="0"/>
          </a:p>
          <a:p>
            <a:pPr>
              <a:buNone/>
            </a:pPr>
            <a:r>
              <a:rPr lang="en-SG" sz="1200" b="1" dirty="0">
                <a:solidFill>
                  <a:srgbClr val="ED7D31"/>
                </a:solidFill>
              </a:rPr>
              <a:t>Expected Response</a:t>
            </a:r>
          </a:p>
          <a:p>
            <a:pPr>
              <a:buFont typeface="Arial" panose="020B0604020202020204" pitchFamily="34" charset="0"/>
              <a:buChar char="•"/>
            </a:pPr>
            <a:r>
              <a:rPr lang="en-SG" sz="1200" b="1" dirty="0"/>
              <a:t>File Format:</a:t>
            </a:r>
            <a:r>
              <a:rPr lang="en-SG" sz="1200" dirty="0"/>
              <a:t> Downloadable Excel File</a:t>
            </a:r>
          </a:p>
          <a:p>
            <a:pPr>
              <a:buFont typeface="Arial" panose="020B0604020202020204" pitchFamily="34" charset="0"/>
              <a:buChar char="•"/>
            </a:pPr>
            <a:r>
              <a:rPr lang="en-SG" sz="1200" b="1" dirty="0"/>
              <a:t>Conditions:</a:t>
            </a:r>
            <a:endParaRPr lang="en-SG" sz="1200" dirty="0"/>
          </a:p>
          <a:p>
            <a:pPr marL="742950" lvl="1" indent="-285750">
              <a:buFont typeface="Arial" panose="020B0604020202020204" pitchFamily="34" charset="0"/>
              <a:buChar char="•"/>
            </a:pPr>
            <a:r>
              <a:rPr lang="en-SG" sz="1200" dirty="0"/>
              <a:t>If a metric is not found, use NLP to deduce possible values.</a:t>
            </a:r>
          </a:p>
          <a:p>
            <a:pPr marL="742950" lvl="1" indent="-285750">
              <a:buFont typeface="Arial" panose="020B0604020202020204" pitchFamily="34" charset="0"/>
              <a:buChar char="•"/>
            </a:pPr>
            <a:r>
              <a:rPr lang="en-SG" sz="1200" dirty="0"/>
              <a:t>Provide remarks explaining whether the value was estimated, inferred, or unavailable.</a:t>
            </a:r>
          </a:p>
          <a:p>
            <a:endParaRPr lang="en-US" sz="1200" dirty="0"/>
          </a:p>
        </p:txBody>
      </p:sp>
      <p:sp>
        <p:nvSpPr>
          <p:cNvPr id="10" name="TextBox 9">
            <a:extLst>
              <a:ext uri="{FF2B5EF4-FFF2-40B4-BE49-F238E27FC236}">
                <a16:creationId xmlns:a16="http://schemas.microsoft.com/office/drawing/2014/main" id="{57709DA3-CFCE-991B-768C-93E5A45B4E44}"/>
              </a:ext>
            </a:extLst>
          </p:cNvPr>
          <p:cNvSpPr txBox="1"/>
          <p:nvPr/>
        </p:nvSpPr>
        <p:spPr>
          <a:xfrm>
            <a:off x="6672470" y="3664226"/>
            <a:ext cx="5197731" cy="1754326"/>
          </a:xfrm>
          <a:prstGeom prst="rect">
            <a:avLst/>
          </a:prstGeom>
          <a:noFill/>
        </p:spPr>
        <p:txBody>
          <a:bodyPr wrap="square" rtlCol="0">
            <a:spAutoFit/>
          </a:bodyPr>
          <a:lstStyle/>
          <a:p>
            <a:pPr>
              <a:buNone/>
            </a:pPr>
            <a:r>
              <a:rPr lang="en-SG" sz="1200" b="1" dirty="0">
                <a:solidFill>
                  <a:srgbClr val="44546A"/>
                </a:solidFill>
              </a:rPr>
              <a:t>Future Improvements:</a:t>
            </a:r>
          </a:p>
          <a:p>
            <a:pPr marL="228600" indent="-228600">
              <a:buAutoNum type="arabicPeriod"/>
            </a:pPr>
            <a:r>
              <a:rPr lang="en-SG" sz="1200" b="1" dirty="0"/>
              <a:t>Enhance metric categorisation – </a:t>
            </a:r>
            <a:r>
              <a:rPr lang="en-SG" sz="1200" dirty="0"/>
              <a:t>add brief descriptions for each category, such as “Environmental Metrics: Metrics related to resource usage, emissions and employee development”</a:t>
            </a:r>
          </a:p>
          <a:p>
            <a:pPr marL="228600" indent="-228600">
              <a:buAutoNum type="arabicPeriod"/>
            </a:pPr>
            <a:r>
              <a:rPr lang="en-SG" sz="1200" dirty="0"/>
              <a:t>Expanding LLM models to handle </a:t>
            </a:r>
            <a:r>
              <a:rPr lang="en-SG" sz="1200" b="1" dirty="0"/>
              <a:t>industry-specific terminology</a:t>
            </a:r>
            <a:r>
              <a:rPr lang="en-SG" sz="1200" dirty="0"/>
              <a:t>, integrating external data sources for validation and improving inferential accuracy for missing metrics.</a:t>
            </a:r>
          </a:p>
          <a:p>
            <a:pPr marL="228600" indent="-228600">
              <a:buAutoNum type="arabicPeriod"/>
            </a:pPr>
            <a:r>
              <a:rPr lang="en-SG" sz="1200" dirty="0"/>
              <a:t>For reports with very little values for metrics found in </a:t>
            </a:r>
            <a:r>
              <a:rPr lang="en-SG" sz="1200" dirty="0" err="1"/>
              <a:t>ESGpedia’s</a:t>
            </a:r>
            <a:r>
              <a:rPr lang="en-SG" sz="1200" dirty="0"/>
              <a:t> reports, it will </a:t>
            </a:r>
            <a:r>
              <a:rPr lang="en-SG" sz="1200" b="1" dirty="0"/>
              <a:t>output suggestions for similar metrics</a:t>
            </a:r>
            <a:r>
              <a:rPr lang="en-SG" sz="1200" dirty="0"/>
              <a:t>.</a:t>
            </a:r>
          </a:p>
        </p:txBody>
      </p:sp>
    </p:spTree>
    <p:extLst>
      <p:ext uri="{BB962C8B-B14F-4D97-AF65-F5344CB8AC3E}">
        <p14:creationId xmlns:p14="http://schemas.microsoft.com/office/powerpoint/2010/main" val="2666729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BB03C9-C728-B702-259B-50F1676869C2}"/>
              </a:ext>
            </a:extLst>
          </p:cNvPr>
          <p:cNvSpPr>
            <a:spLocks noGrp="1"/>
          </p:cNvSpPr>
          <p:nvPr>
            <p:ph type="title"/>
          </p:nvPr>
        </p:nvSpPr>
        <p:spPr>
          <a:xfrm>
            <a:off x="504825" y="250215"/>
            <a:ext cx="10412557" cy="584297"/>
          </a:xfrm>
        </p:spPr>
        <p:txBody>
          <a:bodyPr anchor="ctr">
            <a:normAutofit/>
          </a:bodyPr>
          <a:lstStyle/>
          <a:p>
            <a:r>
              <a:rPr lang="en-US" dirty="0"/>
              <a:t>Future Actions</a:t>
            </a:r>
          </a:p>
        </p:txBody>
      </p:sp>
      <p:pic>
        <p:nvPicPr>
          <p:cNvPr id="7" name="Picture 6" descr="A close-up of a calendar&#10;&#10;AI-generated content may be incorrect.">
            <a:extLst>
              <a:ext uri="{FF2B5EF4-FFF2-40B4-BE49-F238E27FC236}">
                <a16:creationId xmlns:a16="http://schemas.microsoft.com/office/drawing/2014/main" id="{4E1A7E9C-52B8-0C8C-03F5-24426009AE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1539" y="1111243"/>
            <a:ext cx="7328921" cy="4855408"/>
          </a:xfrm>
          <a:prstGeom prst="rect">
            <a:avLst/>
          </a:prstGeom>
          <a:noFill/>
        </p:spPr>
      </p:pic>
      <p:sp>
        <p:nvSpPr>
          <p:cNvPr id="4" name="Slide Number Placeholder 3">
            <a:extLst>
              <a:ext uri="{FF2B5EF4-FFF2-40B4-BE49-F238E27FC236}">
                <a16:creationId xmlns:a16="http://schemas.microsoft.com/office/drawing/2014/main" id="{078D635B-6C8C-B408-A29B-F262F4EA1B0C}"/>
              </a:ext>
            </a:extLst>
          </p:cNvPr>
          <p:cNvSpPr>
            <a:spLocks noGrp="1"/>
          </p:cNvSpPr>
          <p:nvPr>
            <p:ph type="sldNum" sz="quarter" idx="12"/>
          </p:nvPr>
        </p:nvSpPr>
        <p:spPr>
          <a:xfrm>
            <a:off x="11508806" y="6356350"/>
            <a:ext cx="270000" cy="360000"/>
          </a:xfrm>
        </p:spPr>
        <p:txBody>
          <a:bodyPr anchor="ctr">
            <a:normAutofit/>
          </a:bodyPr>
          <a:lstStyle/>
          <a:p>
            <a:pPr>
              <a:spcAft>
                <a:spcPts val="600"/>
              </a:spcAft>
            </a:pPr>
            <a:fld id="{7C03E8FC-7EBD-BF42-9ED4-90D4B1E23A24}" type="slidenum">
              <a:rPr lang="en-US" smtClean="0"/>
              <a:pPr>
                <a:spcAft>
                  <a:spcPts val="600"/>
                </a:spcAft>
              </a:pPr>
              <a:t>6</a:t>
            </a:fld>
            <a:endParaRPr lang="en-US"/>
          </a:p>
        </p:txBody>
      </p:sp>
      <p:sp>
        <p:nvSpPr>
          <p:cNvPr id="21" name="Text Placeholder 4">
            <a:extLst>
              <a:ext uri="{FF2B5EF4-FFF2-40B4-BE49-F238E27FC236}">
                <a16:creationId xmlns:a16="http://schemas.microsoft.com/office/drawing/2014/main" id="{0BA840CF-AD8C-B0BC-8AE4-F63C58549813}"/>
              </a:ext>
            </a:extLst>
          </p:cNvPr>
          <p:cNvSpPr>
            <a:spLocks noGrp="1"/>
          </p:cNvSpPr>
          <p:nvPr>
            <p:ph type="body" sz="quarter" idx="13"/>
          </p:nvPr>
        </p:nvSpPr>
        <p:spPr>
          <a:xfrm>
            <a:off x="504825" y="6411593"/>
            <a:ext cx="2974975" cy="252413"/>
          </a:xfrm>
        </p:spPr>
        <p:txBody>
          <a:bodyPr/>
          <a:lstStyle/>
          <a:p>
            <a:endParaRPr lang="en-US"/>
          </a:p>
        </p:txBody>
      </p:sp>
    </p:spTree>
    <p:extLst>
      <p:ext uri="{BB962C8B-B14F-4D97-AF65-F5344CB8AC3E}">
        <p14:creationId xmlns:p14="http://schemas.microsoft.com/office/powerpoint/2010/main" val="3663763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1">
      <a:dk1>
        <a:srgbClr val="000000"/>
      </a:dk1>
      <a:lt1>
        <a:srgbClr val="FFFFFF"/>
      </a:lt1>
      <a:dk2>
        <a:srgbClr val="44546A"/>
      </a:dk2>
      <a:lt2>
        <a:srgbClr val="E7E6E6"/>
      </a:lt2>
      <a:accent1>
        <a:srgbClr val="FFBF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Maybank.potx" id="{B1755CDD-9389-4DA6-A402-0508EFACCC3C}" vid="{DBE61ACF-C050-4415-ACE3-83AB375712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89934</TotalTime>
  <Words>1097</Words>
  <Application>Microsoft Macintosh PowerPoint</Application>
  <PresentationFormat>Widescreen</PresentationFormat>
  <Paragraphs>135</Paragraphs>
  <Slides>6</Slides>
  <Notes>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1" baseType="lpstr">
      <vt:lpstr>Arial</vt:lpstr>
      <vt:lpstr>Calibri</vt:lpstr>
      <vt:lpstr>Trebuchet MS</vt:lpstr>
      <vt:lpstr>1_Office Theme</vt:lpstr>
      <vt:lpstr>think-cell Slide</vt:lpstr>
      <vt:lpstr>Initial Approach</vt:lpstr>
      <vt:lpstr>Cross Distribution of customer for credit rating vs ESG score</vt:lpstr>
      <vt:lpstr>Use Case Overview</vt:lpstr>
      <vt:lpstr>ESG Metric Extraction Framework</vt:lpstr>
      <vt:lpstr>Output Format, LLM Techniques for extraction and Expected Response</vt:lpstr>
      <vt:lpstr>Future Actions</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SP4A SG Model deployment activity</dc:title>
  <dc:creator>CHEN CHIN LIN SAMUEL</dc:creator>
  <cp:lastModifiedBy>Yu Seung Gyun</cp:lastModifiedBy>
  <cp:revision>1336</cp:revision>
  <dcterms:created xsi:type="dcterms:W3CDTF">2024-06-11T10:26:34Z</dcterms:created>
  <dcterms:modified xsi:type="dcterms:W3CDTF">2025-03-25T05:40:02Z</dcterms:modified>
</cp:coreProperties>
</file>