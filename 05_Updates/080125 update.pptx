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355" r:id="rId2"/>
    <p:sldId id="3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1B364F-2371-4101-B2D2-5F385C3245E2}">
          <p14:sldIdLst>
            <p14:sldId id="355"/>
            <p14:sldId id="356"/>
          </p14:sldIdLst>
        </p14:section>
        <p14:section name="Appendix" id="{AE025130-7A99-41D4-B522-ED095CB2199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6E6"/>
    <a:srgbClr val="44546A"/>
    <a:srgbClr val="ED7D31"/>
    <a:srgbClr val="FFBF00"/>
    <a:srgbClr val="C55A11"/>
    <a:srgbClr val="FBE5D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362" autoAdjust="0"/>
  </p:normalViewPr>
  <p:slideViewPr>
    <p:cSldViewPr snapToGrid="0">
      <p:cViewPr varScale="1">
        <p:scale>
          <a:sx n="188" d="100"/>
          <a:sy n="188" d="100"/>
        </p:scale>
        <p:origin x="856" y="1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BA36-E0FD-4E0A-B8DA-A9E7499AD2FB}" type="datetimeFigureOut">
              <a:rPr lang="en-SG" smtClean="0"/>
              <a:t>20/1/25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7019E-F4A4-4968-85F6-64D7E022BA11}" type="slidenum">
              <a:rPr lang="en-SG" smtClean="0"/>
              <a:t>‹#›</a:t>
            </a:fld>
            <a:endParaRPr lang="en-SG"/>
          </a:p>
        </p:txBody>
      </p:sp>
    </p:spTree>
    <p:extLst>
      <p:ext uri="{BB962C8B-B14F-4D97-AF65-F5344CB8AC3E}">
        <p14:creationId xmlns:p14="http://schemas.microsoft.com/office/powerpoint/2010/main" val="267788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5288B3EB-F9F7-C740-BB9A-F0CE75052D7B}"/>
              </a:ext>
            </a:extLst>
          </p:cNvPr>
          <p:cNvSpPr>
            <a:spLocks noGrp="1"/>
          </p:cNvSpPr>
          <p:nvPr>
            <p:ph type="body" sz="quarter" idx="13" hasCustomPrompt="1"/>
          </p:nvPr>
        </p:nvSpPr>
        <p:spPr>
          <a:xfrm>
            <a:off x="585788" y="2559050"/>
            <a:ext cx="10082212" cy="65246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Insert Date / Document Version</a:t>
            </a:r>
          </a:p>
        </p:txBody>
      </p:sp>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1198895"/>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1949419"/>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
        <p:nvSpPr>
          <p:cNvPr id="4" name="Footer Placeholder 3">
            <a:extLst>
              <a:ext uri="{FF2B5EF4-FFF2-40B4-BE49-F238E27FC236}">
                <a16:creationId xmlns:a16="http://schemas.microsoft.com/office/drawing/2014/main" id="{F08099C8-7697-9C4D-8D32-53526BB3ED8B}"/>
              </a:ext>
            </a:extLst>
          </p:cNvPr>
          <p:cNvSpPr>
            <a:spLocks noGrp="1"/>
          </p:cNvSpPr>
          <p:nvPr>
            <p:ph type="ftr" sz="quarter" idx="14"/>
          </p:nvPr>
        </p:nvSpPr>
        <p:spPr>
          <a:xfrm>
            <a:off x="6986556" y="117070"/>
            <a:ext cx="4966748" cy="360000"/>
          </a:xfrm>
        </p:spPr>
        <p:txBody>
          <a:bodyPr anchor="b" anchorCtr="0"/>
          <a:lstStyle>
            <a:lvl1pPr>
              <a:defRPr sz="1200">
                <a:solidFill>
                  <a:schemeClr val="tx1">
                    <a:lumMod val="95000"/>
                    <a:lumOff val="5000"/>
                  </a:schemeClr>
                </a:solidFill>
              </a:defRPr>
            </a:lvl1pPr>
          </a:lstStyle>
          <a:p>
            <a:endParaRPr lang="en-US" dirty="0"/>
          </a:p>
        </p:txBody>
      </p:sp>
      <p:sp>
        <p:nvSpPr>
          <p:cNvPr id="5" name="Slide Number Placeholder 4">
            <a:extLst>
              <a:ext uri="{FF2B5EF4-FFF2-40B4-BE49-F238E27FC236}">
                <a16:creationId xmlns:a16="http://schemas.microsoft.com/office/drawing/2014/main" id="{761F157F-E773-9E40-95D1-79F17798E5A0}"/>
              </a:ext>
            </a:extLst>
          </p:cNvPr>
          <p:cNvSpPr>
            <a:spLocks noGrp="1"/>
          </p:cNvSpPr>
          <p:nvPr>
            <p:ph type="sldNum" sz="quarter" idx="15"/>
          </p:nvPr>
        </p:nvSpPr>
        <p:spPr/>
        <p:txBody>
          <a:bodyPr/>
          <a:lstStyle/>
          <a:p>
            <a:fld id="{7C03E8FC-7EBD-BF42-9ED4-90D4B1E23A24}" type="slidenum">
              <a:rPr lang="en-US" smtClean="0"/>
              <a:pPr/>
              <a:t>‹#›</a:t>
            </a:fld>
            <a:endParaRPr lang="en-US" dirty="0"/>
          </a:p>
        </p:txBody>
      </p:sp>
      <p:sp>
        <p:nvSpPr>
          <p:cNvPr id="13" name="Rectangle 12"/>
          <p:cNvSpPr/>
          <p:nvPr userDrawn="1"/>
        </p:nvSpPr>
        <p:spPr>
          <a:xfrm>
            <a:off x="6986556" y="507887"/>
            <a:ext cx="5021766" cy="523220"/>
          </a:xfrm>
          <a:prstGeom prst="rect">
            <a:avLst/>
          </a:prstGeom>
        </p:spPr>
        <p:txBody>
          <a:bodyPr wrap="square">
            <a:spAutoFit/>
          </a:bodyPr>
          <a:lstStyle/>
          <a:p>
            <a:pPr algn="just"/>
            <a:r>
              <a:rPr lang="en-MY" sz="700" i="1" dirty="0"/>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Tree>
    <p:extLst>
      <p:ext uri="{BB962C8B-B14F-4D97-AF65-F5344CB8AC3E}">
        <p14:creationId xmlns:p14="http://schemas.microsoft.com/office/powerpoint/2010/main" val="161403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2157326"/>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2877504"/>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Tree>
    <p:extLst>
      <p:ext uri="{BB962C8B-B14F-4D97-AF65-F5344CB8AC3E}">
        <p14:creationId xmlns:p14="http://schemas.microsoft.com/office/powerpoint/2010/main" val="24056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68836-95DD-6444-8A3B-102219EAF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sp>
        <p:nvSpPr>
          <p:cNvPr id="8" name="Text Placeholder 7"/>
          <p:cNvSpPr>
            <a:spLocks noGrp="1"/>
          </p:cNvSpPr>
          <p:nvPr>
            <p:ph type="body" sz="quarter" idx="13" hasCustomPrompt="1"/>
          </p:nvPr>
        </p:nvSpPr>
        <p:spPr>
          <a:xfrm>
            <a:off x="504825" y="6411593"/>
            <a:ext cx="2974975" cy="25241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1673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o pictur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p:nvPr>
        </p:nvSpPr>
        <p:spPr>
          <a:xfrm>
            <a:off x="4781550" y="2378075"/>
            <a:ext cx="6135688" cy="1389063"/>
          </a:xfrm>
        </p:spPr>
        <p:txBody>
          <a:bodyPr/>
          <a:lstStyle>
            <a:lvl1pPr marL="0" indent="0">
              <a:buNone/>
              <a:defRPr>
                <a:solidFill>
                  <a:srgbClr val="C0C0C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w/o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grpSp>
        <p:nvGrpSpPr>
          <p:cNvPr id="7" name="Group 6">
            <a:extLst>
              <a:ext uri="{FF2B5EF4-FFF2-40B4-BE49-F238E27FC236}">
                <a16:creationId xmlns:a16="http://schemas.microsoft.com/office/drawing/2014/main" id="{ECDFFBDC-318D-3F4B-8882-A65DFD277D6F}"/>
              </a:ext>
            </a:extLst>
          </p:cNvPr>
          <p:cNvGrpSpPr/>
          <p:nvPr userDrawn="1"/>
        </p:nvGrpSpPr>
        <p:grpSpPr>
          <a:xfrm>
            <a:off x="1335505" y="1987277"/>
            <a:ext cx="2959768" cy="2825955"/>
            <a:chOff x="2743200" y="3200400"/>
            <a:chExt cx="3886200" cy="3886200"/>
          </a:xfrm>
        </p:grpSpPr>
        <p:sp>
          <p:nvSpPr>
            <p:cNvPr id="8" name="Oval 7">
              <a:extLst>
                <a:ext uri="{FF2B5EF4-FFF2-40B4-BE49-F238E27FC236}">
                  <a16:creationId xmlns:a16="http://schemas.microsoft.com/office/drawing/2014/main" id="{DA268088-0802-7149-8E40-18E4EE20A607}"/>
                </a:ext>
              </a:extLst>
            </p:cNvPr>
            <p:cNvSpPr/>
            <p:nvPr/>
          </p:nvSpPr>
          <p:spPr>
            <a:xfrm>
              <a:off x="2743200" y="3200400"/>
              <a:ext cx="3886200" cy="3886200"/>
            </a:xfrm>
            <a:prstGeom prst="ellipse">
              <a:avLst/>
            </a:prstGeom>
            <a:solidFill>
              <a:srgbClr val="FFC800"/>
            </a:solidFill>
            <a:ln w="254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54C67207-558A-2748-8761-EBE162DE7E71}"/>
                </a:ext>
              </a:extLst>
            </p:cNvPr>
            <p:cNvSpPr>
              <a:spLocks noEditPoints="1"/>
            </p:cNvSpPr>
            <p:nvPr/>
          </p:nvSpPr>
          <p:spPr bwMode="auto">
            <a:xfrm>
              <a:off x="4008516" y="4381500"/>
              <a:ext cx="1355568" cy="1266824"/>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solidFill>
              <a:srgbClr val="F2F2F5"/>
            </a:solidFill>
            <a:ln>
              <a:noFill/>
            </a:ln>
          </p:spPr>
          <p:txBody>
            <a:bodyPr vert="horz" wrap="square" lIns="91440" tIns="45720" rIns="91440" bIns="45720" numCol="1" anchor="t" anchorCtr="0" compatLnSpc="1">
              <a:prstTxWarp prst="textNoShape">
                <a:avLst/>
              </a:prstTxWarp>
            </a:bodyPr>
            <a:lstStyle/>
            <a:p>
              <a:pPr marL="0" marR="0" lvl="0" indent="0"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grpSp>
      <p:sp>
        <p:nvSpPr>
          <p:cNvPr id="4" name="Text Placeholder 3"/>
          <p:cNvSpPr>
            <a:spLocks noGrp="1"/>
          </p:cNvSpPr>
          <p:nvPr>
            <p:ph type="body" sz="quarter" idx="14" hasCustomPrompt="1"/>
          </p:nvPr>
        </p:nvSpPr>
        <p:spPr>
          <a:xfrm>
            <a:off x="504825" y="6356350"/>
            <a:ext cx="30257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9869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 calcmode="lin" valueType="num">
                                      <p:cBhvr>
                                        <p:cTn id="9" dur="750" fill="hold"/>
                                        <p:tgtEl>
                                          <p:spTgt spid="7"/>
                                        </p:tgtEl>
                                        <p:attrNameLst>
                                          <p:attrName>style.rotation</p:attrName>
                                        </p:attrNameLst>
                                      </p:cBhvr>
                                      <p:tavLst>
                                        <p:tav tm="0">
                                          <p:val>
                                            <p:fltVal val="360"/>
                                          </p:val>
                                        </p:tav>
                                        <p:tav tm="100000">
                                          <p:val>
                                            <p:fltVal val="0"/>
                                          </p:val>
                                        </p:tav>
                                      </p:tavLst>
                                    </p:anim>
                                    <p:animEffect transition="in" filter="fade">
                                      <p:cBhvr>
                                        <p:cTn id="10"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B390E-C77E-7C41-B22A-A0D2E61CCC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405" y="1532515"/>
            <a:ext cx="7315201" cy="4480309"/>
          </a:xfrm>
          <a:prstGeom prst="rect">
            <a:avLst/>
          </a:prstGeom>
          <a:effectLst>
            <a:outerShdw blurRad="190500" dist="76200" dir="5400000" algn="t" rotWithShape="0">
              <a:prstClr val="black">
                <a:alpha val="14000"/>
              </a:prstClr>
            </a:outerShdw>
          </a:effectLst>
        </p:spPr>
      </p:pic>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hasCustomPrompt="1"/>
          </p:nvPr>
        </p:nvSpPr>
        <p:spPr>
          <a:xfrm>
            <a:off x="6961792" y="2485939"/>
            <a:ext cx="4727700" cy="813316"/>
          </a:xfrm>
        </p:spPr>
        <p:txBody>
          <a:bodyPr anchor="b"/>
          <a:lstStyle>
            <a:lvl1pPr marL="0" indent="0">
              <a:buNone/>
              <a:defRPr>
                <a:solidFill>
                  <a:schemeClr val="tx1">
                    <a:lumMod val="95000"/>
                    <a:lumOff val="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with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a:p>
        </p:txBody>
      </p:sp>
      <p:sp>
        <p:nvSpPr>
          <p:cNvPr id="14" name="Picture Placeholder 13">
            <a:extLst>
              <a:ext uri="{FF2B5EF4-FFF2-40B4-BE49-F238E27FC236}">
                <a16:creationId xmlns:a16="http://schemas.microsoft.com/office/drawing/2014/main" id="{9E64B062-21B0-4D42-BAF2-3D88EA4ABB73}"/>
              </a:ext>
            </a:extLst>
          </p:cNvPr>
          <p:cNvSpPr>
            <a:spLocks noGrp="1"/>
          </p:cNvSpPr>
          <p:nvPr>
            <p:ph type="pic" sz="quarter" idx="14" hasCustomPrompt="1"/>
          </p:nvPr>
        </p:nvSpPr>
        <p:spPr>
          <a:xfrm>
            <a:off x="1012825" y="1964724"/>
            <a:ext cx="5437188" cy="3435951"/>
          </a:xfrm>
        </p:spPr>
        <p:txBody>
          <a:bodyPr anchor="ctr"/>
          <a:lstStyle>
            <a:lvl1pPr marL="0" indent="0" algn="ctr">
              <a:buNone/>
              <a:defRPr/>
            </a:lvl1pPr>
          </a:lstStyle>
          <a:p>
            <a:r>
              <a:rPr lang="en-US" dirty="0"/>
              <a:t>Insert Picture</a:t>
            </a:r>
          </a:p>
        </p:txBody>
      </p:sp>
      <p:sp>
        <p:nvSpPr>
          <p:cNvPr id="17" name="Text Placeholder 16">
            <a:extLst>
              <a:ext uri="{FF2B5EF4-FFF2-40B4-BE49-F238E27FC236}">
                <a16:creationId xmlns:a16="http://schemas.microsoft.com/office/drawing/2014/main" id="{263B176F-1D20-3E47-8649-209AA2AF26B0}"/>
              </a:ext>
            </a:extLst>
          </p:cNvPr>
          <p:cNvSpPr>
            <a:spLocks noGrp="1"/>
          </p:cNvSpPr>
          <p:nvPr>
            <p:ph type="body" sz="quarter" idx="15"/>
          </p:nvPr>
        </p:nvSpPr>
        <p:spPr>
          <a:xfrm>
            <a:off x="6961792" y="3435350"/>
            <a:ext cx="4725383" cy="1001713"/>
          </a:xfrm>
        </p:spPr>
        <p:txBody>
          <a:bodyPr>
            <a:noAutofit/>
          </a:bodyPr>
          <a:lstStyle>
            <a:lvl1pPr marL="0" indent="0">
              <a:buNone/>
              <a:defRPr sz="2000">
                <a:solidFill>
                  <a:srgbClr val="7F7F7F"/>
                </a:solidFill>
              </a:defRPr>
            </a:lvl1pPr>
            <a:lvl2pPr marL="457200" indent="0">
              <a:buNone/>
              <a:defRPr sz="2000">
                <a:solidFill>
                  <a:srgbClr val="7F7F7F"/>
                </a:solidFill>
              </a:defRPr>
            </a:lvl2pPr>
            <a:lvl3pPr marL="914400" indent="0">
              <a:buNone/>
              <a:defRPr sz="2000">
                <a:solidFill>
                  <a:srgbClr val="7F7F7F"/>
                </a:solidFill>
              </a:defRPr>
            </a:lvl3pPr>
            <a:lvl4pPr marL="1371600" indent="0">
              <a:buNone/>
              <a:defRPr sz="2000">
                <a:solidFill>
                  <a:srgbClr val="7F7F7F"/>
                </a:solidFill>
              </a:defRPr>
            </a:lvl4pPr>
            <a:lvl5pPr marL="1828800" indent="0">
              <a:buNone/>
              <a:defRPr sz="2000">
                <a:solidFill>
                  <a:srgbClr val="7F7F7F"/>
                </a:solidFill>
              </a:defRPr>
            </a:lvl5pPr>
          </a:lstStyle>
          <a:p>
            <a:pPr lvl="0"/>
            <a:r>
              <a:rPr lang="en-US"/>
              <a:t>Click to edit Master text styles</a:t>
            </a:r>
          </a:p>
        </p:txBody>
      </p:sp>
      <p:sp>
        <p:nvSpPr>
          <p:cNvPr id="7" name="Text Placeholder 6"/>
          <p:cNvSpPr>
            <a:spLocks noGrp="1"/>
          </p:cNvSpPr>
          <p:nvPr>
            <p:ph type="body" sz="quarter" idx="16" hasCustomPrompt="1"/>
          </p:nvPr>
        </p:nvSpPr>
        <p:spPr>
          <a:xfrm>
            <a:off x="504825" y="6451600"/>
            <a:ext cx="3419475" cy="406400"/>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6121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x Text + 1x Pic">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7204075" y="1062038"/>
            <a:ext cx="4484688" cy="5178425"/>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p:nvPr>
        </p:nvSpPr>
        <p:spPr>
          <a:xfrm>
            <a:off x="504825" y="250215"/>
            <a:ext cx="10412557" cy="584297"/>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465942" y="1302701"/>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841157"/>
            <a:ext cx="5891996" cy="4348506"/>
          </a:xfrm>
        </p:spPr>
        <p:txBody>
          <a:bodyPr>
            <a:normAutofit/>
          </a:bodyPr>
          <a:lstStyle>
            <a:lvl1pPr marL="0" indent="0">
              <a:buNone/>
              <a:defRPr sz="1200">
                <a:solidFill>
                  <a:srgbClr val="595959"/>
                </a:solidFill>
              </a:defRPr>
            </a:lvl1pPr>
            <a:lvl2pPr marL="457200" indent="0">
              <a:buNone/>
              <a:defRPr sz="1200">
                <a:solidFill>
                  <a:srgbClr val="595959"/>
                </a:solidFill>
              </a:defRPr>
            </a:lvl2pPr>
            <a:lvl3pPr marL="914400" indent="0">
              <a:buNone/>
              <a:defRPr sz="1200">
                <a:solidFill>
                  <a:srgbClr val="595959"/>
                </a:solidFill>
              </a:defRPr>
            </a:lvl3pPr>
            <a:lvl4pPr marL="1371600" indent="0">
              <a:buNone/>
              <a:defRPr sz="1200">
                <a:solidFill>
                  <a:srgbClr val="595959"/>
                </a:solidFill>
              </a:defRPr>
            </a:lvl4pPr>
            <a:lvl5pPr marL="1828800" indent="0">
              <a:buNone/>
              <a:defRPr sz="12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ext Placeholder 5"/>
          <p:cNvSpPr>
            <a:spLocks noGrp="1"/>
          </p:cNvSpPr>
          <p:nvPr>
            <p:ph type="body" sz="quarter" idx="14" hasCustomPrompt="1"/>
          </p:nvPr>
        </p:nvSpPr>
        <p:spPr>
          <a:xfrm>
            <a:off x="466725" y="6356350"/>
            <a:ext cx="3444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0716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project showcas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A2BBBA6-8747-8149-897F-5F4120F24E1E}"/>
              </a:ext>
            </a:extLst>
          </p:cNvPr>
          <p:cNvSpPr>
            <a:spLocks noGrp="1"/>
          </p:cNvSpPr>
          <p:nvPr>
            <p:ph type="body" sz="quarter" idx="16" hasCustomPrompt="1"/>
          </p:nvPr>
        </p:nvSpPr>
        <p:spPr>
          <a:xfrm>
            <a:off x="85588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4476000" y="1198518"/>
            <a:ext cx="3240000" cy="2520000"/>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dirty="0"/>
              <a:t>3-column project showcase</a:t>
            </a:r>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85588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20" name="Picture Placeholder 14">
            <a:extLst>
              <a:ext uri="{FF2B5EF4-FFF2-40B4-BE49-F238E27FC236}">
                <a16:creationId xmlns:a16="http://schemas.microsoft.com/office/drawing/2014/main" id="{FC9E2B90-5A98-D947-A29D-1372DADDA8DA}"/>
              </a:ext>
            </a:extLst>
          </p:cNvPr>
          <p:cNvSpPr>
            <a:spLocks noGrp="1"/>
          </p:cNvSpPr>
          <p:nvPr>
            <p:ph type="pic" sz="quarter" idx="14"/>
          </p:nvPr>
        </p:nvSpPr>
        <p:spPr>
          <a:xfrm>
            <a:off x="855881" y="1198518"/>
            <a:ext cx="3240000" cy="2520000"/>
          </a:xfrm>
        </p:spPr>
        <p:txBody>
          <a:bodyPr anchor="ctr"/>
          <a:lstStyle>
            <a:lvl1pPr marL="0" indent="0" algn="ctr">
              <a:buNone/>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087033D-C8DB-864A-92FE-5CDCB4253B35}"/>
              </a:ext>
            </a:extLst>
          </p:cNvPr>
          <p:cNvSpPr>
            <a:spLocks noGrp="1"/>
          </p:cNvSpPr>
          <p:nvPr>
            <p:ph type="pic" sz="quarter" idx="15"/>
          </p:nvPr>
        </p:nvSpPr>
        <p:spPr>
          <a:xfrm>
            <a:off x="7992511" y="1198518"/>
            <a:ext cx="3240000" cy="2520000"/>
          </a:xfrm>
        </p:spPr>
        <p:txBody>
          <a:bodyPr anchor="ctr"/>
          <a:lstStyle>
            <a:lvl1pPr marL="0" indent="0" algn="ctr">
              <a:buNone/>
              <a:defRPr/>
            </a:lvl1pPr>
          </a:lstStyle>
          <a:p>
            <a:r>
              <a:rPr lang="en-US"/>
              <a:t>Click icon to add picture</a:t>
            </a:r>
            <a:endParaRPr lang="en-US" dirty="0"/>
          </a:p>
        </p:txBody>
      </p:sp>
      <p:sp>
        <p:nvSpPr>
          <p:cNvPr id="22" name="Text Placeholder 5">
            <a:extLst>
              <a:ext uri="{FF2B5EF4-FFF2-40B4-BE49-F238E27FC236}">
                <a16:creationId xmlns:a16="http://schemas.microsoft.com/office/drawing/2014/main" id="{57BA9409-A7B4-5147-B2B4-81AD8C98D8FE}"/>
              </a:ext>
            </a:extLst>
          </p:cNvPr>
          <p:cNvSpPr>
            <a:spLocks noGrp="1"/>
          </p:cNvSpPr>
          <p:nvPr>
            <p:ph type="body" sz="quarter" idx="17" hasCustomPrompt="1"/>
          </p:nvPr>
        </p:nvSpPr>
        <p:spPr>
          <a:xfrm>
            <a:off x="4476000"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3" name="Text Placeholder 2">
            <a:extLst>
              <a:ext uri="{FF2B5EF4-FFF2-40B4-BE49-F238E27FC236}">
                <a16:creationId xmlns:a16="http://schemas.microsoft.com/office/drawing/2014/main" id="{D142D9D1-526E-CC4D-8FE6-90CB7593C04F}"/>
              </a:ext>
            </a:extLst>
          </p:cNvPr>
          <p:cNvSpPr>
            <a:spLocks noGrp="1"/>
          </p:cNvSpPr>
          <p:nvPr>
            <p:ph type="body" idx="18" hasCustomPrompt="1"/>
          </p:nvPr>
        </p:nvSpPr>
        <p:spPr>
          <a:xfrm>
            <a:off x="4476000"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24" name="Text Placeholder 5">
            <a:extLst>
              <a:ext uri="{FF2B5EF4-FFF2-40B4-BE49-F238E27FC236}">
                <a16:creationId xmlns:a16="http://schemas.microsoft.com/office/drawing/2014/main" id="{0D9B4493-7B31-C644-B62E-32A90C658F44}"/>
              </a:ext>
            </a:extLst>
          </p:cNvPr>
          <p:cNvSpPr>
            <a:spLocks noGrp="1"/>
          </p:cNvSpPr>
          <p:nvPr>
            <p:ph type="body" sz="quarter" idx="19" hasCustomPrompt="1"/>
          </p:nvPr>
        </p:nvSpPr>
        <p:spPr>
          <a:xfrm>
            <a:off x="799251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5" name="Text Placeholder 2">
            <a:extLst>
              <a:ext uri="{FF2B5EF4-FFF2-40B4-BE49-F238E27FC236}">
                <a16:creationId xmlns:a16="http://schemas.microsoft.com/office/drawing/2014/main" id="{207568BA-2550-D849-9CC9-D47F24A15E41}"/>
              </a:ext>
            </a:extLst>
          </p:cNvPr>
          <p:cNvSpPr>
            <a:spLocks noGrp="1"/>
          </p:cNvSpPr>
          <p:nvPr>
            <p:ph type="body" idx="20" hasCustomPrompt="1"/>
          </p:nvPr>
        </p:nvSpPr>
        <p:spPr>
          <a:xfrm>
            <a:off x="799251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5" name="Text Placeholder 4"/>
          <p:cNvSpPr>
            <a:spLocks noGrp="1"/>
          </p:cNvSpPr>
          <p:nvPr>
            <p:ph type="body" sz="quarter" idx="21" hasCustomPrompt="1"/>
          </p:nvPr>
        </p:nvSpPr>
        <p:spPr>
          <a:xfrm>
            <a:off x="504825" y="6356350"/>
            <a:ext cx="33686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96836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Opt 01)">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834887"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p:txBody>
          <a:bodyPr/>
          <a:lstStyle>
            <a:lvl1pPr>
              <a:defRPr/>
            </a:lvl1pPr>
          </a:lstStyle>
          <a:p>
            <a:r>
              <a:rPr lang="en-US" sz="2800" dirty="0">
                <a:latin typeface="Trebuchet MS" panose="020B0603020202020204" pitchFamily="34" charset="0"/>
              </a:rPr>
              <a:t>Comparisons (opt 01)</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4" name="Text Placeholder 23">
            <a:extLst>
              <a:ext uri="{FF2B5EF4-FFF2-40B4-BE49-F238E27FC236}">
                <a16:creationId xmlns:a16="http://schemas.microsoft.com/office/drawing/2014/main" id="{F03422E6-CE47-5B4C-8C92-FA13F1EA2762}"/>
              </a:ext>
            </a:extLst>
          </p:cNvPr>
          <p:cNvSpPr>
            <a:spLocks noGrp="1"/>
          </p:cNvSpPr>
          <p:nvPr>
            <p:ph type="body" sz="quarter" idx="14" hasCustomPrompt="1"/>
          </p:nvPr>
        </p:nvSpPr>
        <p:spPr>
          <a:xfrm>
            <a:off x="581891"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834886"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1">
            <a:extLst>
              <a:ext uri="{FF2B5EF4-FFF2-40B4-BE49-F238E27FC236}">
                <a16:creationId xmlns:a16="http://schemas.microsoft.com/office/drawing/2014/main" id="{FF0BFB3C-8987-A449-857D-BE505C75ABED}"/>
              </a:ext>
            </a:extLst>
          </p:cNvPr>
          <p:cNvSpPr>
            <a:spLocks noGrp="1"/>
          </p:cNvSpPr>
          <p:nvPr>
            <p:ph type="body" sz="quarter" idx="16" hasCustomPrompt="1"/>
          </p:nvPr>
        </p:nvSpPr>
        <p:spPr>
          <a:xfrm>
            <a:off x="4742858"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29" name="Text Placeholder 23">
            <a:extLst>
              <a:ext uri="{FF2B5EF4-FFF2-40B4-BE49-F238E27FC236}">
                <a16:creationId xmlns:a16="http://schemas.microsoft.com/office/drawing/2014/main" id="{6C59BA92-114B-CA46-8F65-30948BB2E36E}"/>
              </a:ext>
            </a:extLst>
          </p:cNvPr>
          <p:cNvSpPr>
            <a:spLocks noGrp="1"/>
          </p:cNvSpPr>
          <p:nvPr>
            <p:ph type="body" sz="quarter" idx="17" hasCustomPrompt="1"/>
          </p:nvPr>
        </p:nvSpPr>
        <p:spPr>
          <a:xfrm>
            <a:off x="4489862"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0" name="Text Placeholder 25">
            <a:extLst>
              <a:ext uri="{FF2B5EF4-FFF2-40B4-BE49-F238E27FC236}">
                <a16:creationId xmlns:a16="http://schemas.microsoft.com/office/drawing/2014/main" id="{B16A439E-D494-B345-A2DC-0ED9729C73AF}"/>
              </a:ext>
            </a:extLst>
          </p:cNvPr>
          <p:cNvSpPr>
            <a:spLocks noGrp="1"/>
          </p:cNvSpPr>
          <p:nvPr>
            <p:ph type="body" sz="quarter" idx="18"/>
          </p:nvPr>
        </p:nvSpPr>
        <p:spPr>
          <a:xfrm>
            <a:off x="4742857"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21">
            <a:extLst>
              <a:ext uri="{FF2B5EF4-FFF2-40B4-BE49-F238E27FC236}">
                <a16:creationId xmlns:a16="http://schemas.microsoft.com/office/drawing/2014/main" id="{AC3AA84A-179B-C44A-A390-FBE7CF18792C}"/>
              </a:ext>
            </a:extLst>
          </p:cNvPr>
          <p:cNvSpPr>
            <a:spLocks noGrp="1"/>
          </p:cNvSpPr>
          <p:nvPr>
            <p:ph type="body" sz="quarter" idx="19" hasCustomPrompt="1"/>
          </p:nvPr>
        </p:nvSpPr>
        <p:spPr>
          <a:xfrm>
            <a:off x="8740609" y="1302547"/>
            <a:ext cx="3060000" cy="612000"/>
          </a:xfrm>
          <a:prstGeom prst="roundRect">
            <a:avLst/>
          </a:prstGeom>
          <a:solidFill>
            <a:srgbClr val="FEBC11"/>
          </a:solidFill>
          <a:ln w="12700">
            <a:solidFill>
              <a:srgbClr val="FFBB13"/>
            </a:solidFill>
          </a:ln>
        </p:spPr>
        <p:txBody>
          <a:bodyPr anchor="ctr">
            <a:normAutofit/>
          </a:bodyPr>
          <a:lstStyle>
            <a:lvl1pPr marL="357188" indent="0">
              <a:buNone/>
              <a:tabLst/>
              <a:defRPr sz="1800" b="1">
                <a:solidFill>
                  <a:schemeClr val="bg1"/>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37" name="Text Placeholder 23">
            <a:extLst>
              <a:ext uri="{FF2B5EF4-FFF2-40B4-BE49-F238E27FC236}">
                <a16:creationId xmlns:a16="http://schemas.microsoft.com/office/drawing/2014/main" id="{DB0369DC-C42C-BC44-B24A-FD8EE3F70AB4}"/>
              </a:ext>
            </a:extLst>
          </p:cNvPr>
          <p:cNvSpPr>
            <a:spLocks noGrp="1"/>
          </p:cNvSpPr>
          <p:nvPr>
            <p:ph type="body" sz="quarter" idx="20" hasCustomPrompt="1"/>
          </p:nvPr>
        </p:nvSpPr>
        <p:spPr>
          <a:xfrm>
            <a:off x="8487613" y="1302547"/>
            <a:ext cx="612000" cy="612000"/>
          </a:xfrm>
          <a:prstGeom prst="ellipse">
            <a:avLst/>
          </a:prstGeom>
          <a:solidFill>
            <a:srgbClr val="FEBC11"/>
          </a:solidFill>
          <a:ln w="25400">
            <a:solidFill>
              <a:schemeClr val="bg1"/>
            </a:solidFill>
          </a:ln>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8" name="Text Placeholder 25">
            <a:extLst>
              <a:ext uri="{FF2B5EF4-FFF2-40B4-BE49-F238E27FC236}">
                <a16:creationId xmlns:a16="http://schemas.microsoft.com/office/drawing/2014/main" id="{E4A1293A-D1F4-1941-A787-F87122B6427B}"/>
              </a:ext>
            </a:extLst>
          </p:cNvPr>
          <p:cNvSpPr>
            <a:spLocks noGrp="1"/>
          </p:cNvSpPr>
          <p:nvPr>
            <p:ph type="body" sz="quarter" idx="21"/>
          </p:nvPr>
        </p:nvSpPr>
        <p:spPr>
          <a:xfrm>
            <a:off x="8740608"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quarter" idx="22" hasCustomPrompt="1"/>
          </p:nvPr>
        </p:nvSpPr>
        <p:spPr>
          <a:xfrm>
            <a:off x="406400" y="6356350"/>
            <a:ext cx="3403600"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38060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s - with image / chart / icon (opt 02)">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504825"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Comparisons - with image / chart / icon (opt 02)</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504825"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F6BE7-BA67-1B46-8163-B7A3DFBB32E9}"/>
              </a:ext>
            </a:extLst>
          </p:cNvPr>
          <p:cNvSpPr>
            <a:spLocks noGrp="1"/>
          </p:cNvSpPr>
          <p:nvPr>
            <p:ph sz="quarter" idx="21" hasCustomPrompt="1"/>
          </p:nvPr>
        </p:nvSpPr>
        <p:spPr>
          <a:xfrm>
            <a:off x="504825"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19" name="Text Placeholder 21">
            <a:extLst>
              <a:ext uri="{FF2B5EF4-FFF2-40B4-BE49-F238E27FC236}">
                <a16:creationId xmlns:a16="http://schemas.microsoft.com/office/drawing/2014/main" id="{072E3C89-2DC2-D745-AC1A-40F655B2CE22}"/>
              </a:ext>
            </a:extLst>
          </p:cNvPr>
          <p:cNvSpPr>
            <a:spLocks noGrp="1"/>
          </p:cNvSpPr>
          <p:nvPr>
            <p:ph type="body" sz="quarter" idx="22" hasCustomPrompt="1"/>
          </p:nvPr>
        </p:nvSpPr>
        <p:spPr>
          <a:xfrm>
            <a:off x="4331237"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0" name="Text Placeholder 25">
            <a:extLst>
              <a:ext uri="{FF2B5EF4-FFF2-40B4-BE49-F238E27FC236}">
                <a16:creationId xmlns:a16="http://schemas.microsoft.com/office/drawing/2014/main" id="{5565FFAC-83E0-5641-B638-1A58E427F71E}"/>
              </a:ext>
            </a:extLst>
          </p:cNvPr>
          <p:cNvSpPr>
            <a:spLocks noGrp="1"/>
          </p:cNvSpPr>
          <p:nvPr>
            <p:ph type="body" sz="quarter" idx="23"/>
          </p:nvPr>
        </p:nvSpPr>
        <p:spPr>
          <a:xfrm>
            <a:off x="4331237"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3">
            <a:extLst>
              <a:ext uri="{FF2B5EF4-FFF2-40B4-BE49-F238E27FC236}">
                <a16:creationId xmlns:a16="http://schemas.microsoft.com/office/drawing/2014/main" id="{793719C8-1987-8A4C-A63E-B740FD53052B}"/>
              </a:ext>
            </a:extLst>
          </p:cNvPr>
          <p:cNvSpPr>
            <a:spLocks noGrp="1"/>
          </p:cNvSpPr>
          <p:nvPr>
            <p:ph sz="quarter" idx="24" hasCustomPrompt="1"/>
          </p:nvPr>
        </p:nvSpPr>
        <p:spPr>
          <a:xfrm>
            <a:off x="4331237"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23" name="Text Placeholder 21">
            <a:extLst>
              <a:ext uri="{FF2B5EF4-FFF2-40B4-BE49-F238E27FC236}">
                <a16:creationId xmlns:a16="http://schemas.microsoft.com/office/drawing/2014/main" id="{3EBF9622-0B52-5D4E-BF04-71D838A7A6A4}"/>
              </a:ext>
            </a:extLst>
          </p:cNvPr>
          <p:cNvSpPr>
            <a:spLocks noGrp="1"/>
          </p:cNvSpPr>
          <p:nvPr>
            <p:ph type="body" sz="quarter" idx="25" hasCustomPrompt="1"/>
          </p:nvPr>
        </p:nvSpPr>
        <p:spPr>
          <a:xfrm>
            <a:off x="8157650"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5" name="Text Placeholder 25">
            <a:extLst>
              <a:ext uri="{FF2B5EF4-FFF2-40B4-BE49-F238E27FC236}">
                <a16:creationId xmlns:a16="http://schemas.microsoft.com/office/drawing/2014/main" id="{DAA0B8D7-4C30-1648-86CE-0F510E7EB760}"/>
              </a:ext>
            </a:extLst>
          </p:cNvPr>
          <p:cNvSpPr>
            <a:spLocks noGrp="1"/>
          </p:cNvSpPr>
          <p:nvPr>
            <p:ph type="body" sz="quarter" idx="26"/>
          </p:nvPr>
        </p:nvSpPr>
        <p:spPr>
          <a:xfrm>
            <a:off x="8157650"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6C08569C-0B31-6C47-AAB3-3B9388505ED4}"/>
              </a:ext>
            </a:extLst>
          </p:cNvPr>
          <p:cNvSpPr>
            <a:spLocks noGrp="1"/>
          </p:cNvSpPr>
          <p:nvPr>
            <p:ph sz="quarter" idx="27" hasCustomPrompt="1"/>
          </p:nvPr>
        </p:nvSpPr>
        <p:spPr>
          <a:xfrm>
            <a:off x="8157650"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5" name="Text Placeholder 4"/>
          <p:cNvSpPr>
            <a:spLocks noGrp="1"/>
          </p:cNvSpPr>
          <p:nvPr>
            <p:ph type="body" sz="quarter" idx="28" hasCustomPrompt="1"/>
          </p:nvPr>
        </p:nvSpPr>
        <p:spPr>
          <a:xfrm>
            <a:off x="504825" y="6356350"/>
            <a:ext cx="3952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73025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layout with cop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Table layout with copy</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1422545" y="-640493"/>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653951"/>
            <a:ext cx="3346403" cy="2831544"/>
          </a:xfrm>
        </p:spPr>
        <p:txBody>
          <a:bodyPr>
            <a:normAutofit/>
          </a:bodyPr>
          <a:lstStyle>
            <a:lvl1pPr marL="0" indent="0">
              <a:buNone/>
              <a:defRPr sz="1800">
                <a:solidFill>
                  <a:schemeClr val="tx1">
                    <a:lumMod val="85000"/>
                    <a:lumOff val="15000"/>
                  </a:schemeClr>
                </a:solidFill>
              </a:defRPr>
            </a:lvl1pPr>
            <a:lvl2pPr marL="180975" indent="-168275">
              <a:buFont typeface="Arial" panose="020B0604020202020204" pitchFamily="34" charset="0"/>
              <a:buChar char="•"/>
              <a:tabLst/>
              <a:defRPr sz="1600">
                <a:solidFill>
                  <a:schemeClr val="tx1">
                    <a:lumMod val="85000"/>
                    <a:lumOff val="15000"/>
                  </a:schemeClr>
                </a:solidFill>
              </a:defRPr>
            </a:lvl2pPr>
            <a:lvl3pPr marL="361950" indent="-139700">
              <a:buFont typeface="Arial" panose="020B0604020202020204" pitchFamily="34" charset="0"/>
              <a:buChar char="•"/>
              <a:tabLst/>
              <a:defRPr sz="1400">
                <a:solidFill>
                  <a:schemeClr val="tx1">
                    <a:lumMod val="85000"/>
                    <a:lumOff val="15000"/>
                  </a:schemeClr>
                </a:solidFill>
              </a:defRPr>
            </a:lvl3pPr>
            <a:lvl4pPr marL="501650" indent="-139700">
              <a:buFont typeface="Arial" panose="020B0604020202020204" pitchFamily="34" charset="0"/>
              <a:buChar char="•"/>
              <a:tabLst/>
              <a:defRPr sz="1200">
                <a:solidFill>
                  <a:schemeClr val="tx1">
                    <a:lumMod val="85000"/>
                    <a:lumOff val="15000"/>
                  </a:schemeClr>
                </a:solidFill>
              </a:defRPr>
            </a:lvl4pPr>
            <a:lvl5pPr marL="668338" indent="-166688">
              <a:buFont typeface="Arial" panose="020B0604020202020204" pitchFamily="34" charset="0"/>
              <a:buChar char="•"/>
              <a:tabLst/>
              <a:defRPr sz="10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able Placeholder 5">
            <a:extLst>
              <a:ext uri="{FF2B5EF4-FFF2-40B4-BE49-F238E27FC236}">
                <a16:creationId xmlns:a16="http://schemas.microsoft.com/office/drawing/2014/main" id="{804F53D6-FE15-014B-8637-4816D8C8D57E}"/>
              </a:ext>
            </a:extLst>
          </p:cNvPr>
          <p:cNvSpPr>
            <a:spLocks noGrp="1"/>
          </p:cNvSpPr>
          <p:nvPr>
            <p:ph type="tbl" sz="quarter" idx="13"/>
          </p:nvPr>
        </p:nvSpPr>
        <p:spPr>
          <a:xfrm>
            <a:off x="3955805" y="1605397"/>
            <a:ext cx="7705970" cy="4387416"/>
          </a:xfrm>
        </p:spPr>
        <p:txBody>
          <a:bodyPr/>
          <a:lstStyle/>
          <a:p>
            <a:r>
              <a:rPr lang="en-US"/>
              <a:t>Click icon to add table</a:t>
            </a:r>
            <a:endParaRPr lang="en-US" dirty="0"/>
          </a:p>
        </p:txBody>
      </p:sp>
      <p:sp>
        <p:nvSpPr>
          <p:cNvPr id="7" name="Text Placeholder 6"/>
          <p:cNvSpPr>
            <a:spLocks noGrp="1"/>
          </p:cNvSpPr>
          <p:nvPr>
            <p:ph type="body" sz="quarter" idx="14" hasCustomPrompt="1"/>
          </p:nvPr>
        </p:nvSpPr>
        <p:spPr>
          <a:xfrm>
            <a:off x="466725" y="6356350"/>
            <a:ext cx="42195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5482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1ACCC9-0B01-4140-AB97-B2D5AAF74A13}"/>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814FBDE-2BA1-4740-A145-BE005D1192D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A6741B0-2215-8A46-88BF-F2E66B8FCFBF}"/>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7" name="Text Placeholder 6"/>
          <p:cNvSpPr>
            <a:spLocks noGrp="1"/>
          </p:cNvSpPr>
          <p:nvPr>
            <p:ph type="body" sz="quarter" idx="13" hasCustomPrompt="1"/>
          </p:nvPr>
        </p:nvSpPr>
        <p:spPr>
          <a:xfrm>
            <a:off x="504825" y="6356350"/>
            <a:ext cx="3800475" cy="501650"/>
          </a:xfrm>
        </p:spPr>
        <p:txBody>
          <a:bodyPr>
            <a:norm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48925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7AE889-C293-674E-B5E9-01862CB4F1BA}"/>
              </a:ext>
            </a:extLst>
          </p:cNvPr>
          <p:cNvSpPr>
            <a:spLocks noGrp="1"/>
          </p:cNvSpPr>
          <p:nvPr>
            <p:ph type="pic" idx="1"/>
          </p:nvPr>
        </p:nvSpPr>
        <p:spPr>
          <a:xfrm>
            <a:off x="0" y="0"/>
            <a:ext cx="60579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F3565BFD-3AF0-F64F-BA5A-7FAD6F793F06}"/>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C330D6F-16E3-BB4D-AAD6-AF24CD8A2838}"/>
              </a:ext>
            </a:extLst>
          </p:cNvPr>
          <p:cNvSpPr>
            <a:spLocks noGrp="1"/>
          </p:cNvSpPr>
          <p:nvPr>
            <p:ph type="title" hasCustomPrompt="1"/>
          </p:nvPr>
        </p:nvSpPr>
        <p:spPr>
          <a:xfrm>
            <a:off x="6669088" y="2256296"/>
            <a:ext cx="4397190" cy="523220"/>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8EA95580-89D1-2F44-B156-FC0FE81704F9}"/>
              </a:ext>
            </a:extLst>
          </p:cNvPr>
          <p:cNvSpPr>
            <a:spLocks noGrp="1"/>
          </p:cNvSpPr>
          <p:nvPr>
            <p:ph type="body" sz="half" idx="2"/>
          </p:nvPr>
        </p:nvSpPr>
        <p:spPr>
          <a:xfrm>
            <a:off x="6669088" y="3284782"/>
            <a:ext cx="4397190" cy="2584206"/>
          </a:xfrm>
        </p:spPr>
        <p:txBody>
          <a:bodyPr>
            <a:normAutofit/>
          </a:bodyPr>
          <a:lstStyle>
            <a:lvl1pPr marL="0" indent="0">
              <a:buNone/>
              <a:defRPr sz="2000">
                <a:solidFill>
                  <a:srgbClr val="7F7F7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698C8ABB-4A3F-E348-ADA0-77696158B139}"/>
              </a:ext>
            </a:extLst>
          </p:cNvPr>
          <p:cNvSpPr>
            <a:spLocks noGrp="1"/>
          </p:cNvSpPr>
          <p:nvPr>
            <p:ph type="sldNum" sz="quarter" idx="12"/>
          </p:nvPr>
        </p:nvSpPr>
        <p:spPr/>
        <p:txBody>
          <a:bodyPr/>
          <a:lstStyle/>
          <a:p>
            <a:fld id="{7C03E8FC-7EBD-BF42-9ED4-90D4B1E23A24}" type="slidenum">
              <a:rPr lang="en-US" smtClean="0"/>
              <a:t>‹#›</a:t>
            </a:fld>
            <a:endParaRPr lang="en-US"/>
          </a:p>
        </p:txBody>
      </p:sp>
    </p:spTree>
    <p:extLst>
      <p:ext uri="{BB962C8B-B14F-4D97-AF65-F5344CB8AC3E}">
        <p14:creationId xmlns:p14="http://schemas.microsoft.com/office/powerpoint/2010/main" val="45490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9" name="Object 8" hidden="1"/>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D332AD5B-E72D-A94F-98AE-656377385D6B}"/>
              </a:ext>
            </a:extLst>
          </p:cNvPr>
          <p:cNvPicPr>
            <a:picLocks noChangeAspect="1"/>
          </p:cNvPicPr>
          <p:nvPr userDrawn="1"/>
        </p:nvPicPr>
        <p:blipFill>
          <a:blip r:embed="rId17" cstate="screen">
            <a:lum/>
            <a:extLst>
              <a:ext uri="{28A0092B-C50C-407E-A947-70E740481C1C}">
                <a14:useLocalDpi xmlns:a14="http://schemas.microsoft.com/office/drawing/2010/main"/>
              </a:ext>
            </a:extLst>
          </a:blip>
          <a:stretch>
            <a:fillRect/>
          </a:stretch>
        </p:blipFill>
        <p:spPr>
          <a:xfrm>
            <a:off x="11081394" y="223339"/>
            <a:ext cx="603250" cy="603250"/>
          </a:xfrm>
          <a:prstGeom prst="rect">
            <a:avLst/>
          </a:prstGeom>
        </p:spPr>
      </p:pic>
      <p:sp>
        <p:nvSpPr>
          <p:cNvPr id="17" name="Rectangle 16">
            <a:extLst>
              <a:ext uri="{FF2B5EF4-FFF2-40B4-BE49-F238E27FC236}">
                <a16:creationId xmlns:a16="http://schemas.microsoft.com/office/drawing/2014/main" id="{4B1F3A1E-7DB8-E942-A26E-AA47434BAB2A}"/>
              </a:ext>
            </a:extLst>
          </p:cNvPr>
          <p:cNvSpPr/>
          <p:nvPr userDrawn="1"/>
        </p:nvSpPr>
        <p:spPr>
          <a:xfrm>
            <a:off x="0" y="321764"/>
            <a:ext cx="504824" cy="365125"/>
          </a:xfrm>
          <a:prstGeom prst="rect">
            <a:avLst/>
          </a:prstGeom>
          <a:solidFill>
            <a:srgbClr val="A6A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9D2D0EB2-9874-914F-813F-217E2062148A}"/>
              </a:ext>
            </a:extLst>
          </p:cNvPr>
          <p:cNvSpPr>
            <a:spLocks noGrp="1"/>
          </p:cNvSpPr>
          <p:nvPr>
            <p:ph type="ftr" sz="quarter" idx="3"/>
          </p:nvPr>
        </p:nvSpPr>
        <p:spPr>
          <a:xfrm>
            <a:off x="9278470" y="6356350"/>
            <a:ext cx="2197675" cy="360000"/>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endParaRPr lang="en-US" dirty="0"/>
          </a:p>
        </p:txBody>
      </p:sp>
      <p:cxnSp>
        <p:nvCxnSpPr>
          <p:cNvPr id="7" name="Straight Connector 6">
            <a:extLst>
              <a:ext uri="{FF2B5EF4-FFF2-40B4-BE49-F238E27FC236}">
                <a16:creationId xmlns:a16="http://schemas.microsoft.com/office/drawing/2014/main" id="{1F060E8E-1590-EC47-B852-A8EDA70D52E9}"/>
              </a:ext>
            </a:extLst>
          </p:cNvPr>
          <p:cNvCxnSpPr/>
          <p:nvPr userDrawn="1"/>
        </p:nvCxnSpPr>
        <p:spPr>
          <a:xfrm>
            <a:off x="504825" y="6333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1AF1BBB8-66EF-AE41-A86C-2B947B05AAFE}"/>
              </a:ext>
            </a:extLst>
          </p:cNvPr>
          <p:cNvSpPr>
            <a:spLocks noGrp="1"/>
          </p:cNvSpPr>
          <p:nvPr>
            <p:ph type="title"/>
          </p:nvPr>
        </p:nvSpPr>
        <p:spPr>
          <a:xfrm>
            <a:off x="504825" y="250215"/>
            <a:ext cx="10412557" cy="584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5B460CC-4201-9F45-950F-D8B26925AAAC}"/>
              </a:ext>
            </a:extLst>
          </p:cNvPr>
          <p:cNvSpPr>
            <a:spLocks noGrp="1"/>
          </p:cNvSpPr>
          <p:nvPr>
            <p:ph type="body" idx="1"/>
          </p:nvPr>
        </p:nvSpPr>
        <p:spPr>
          <a:xfrm>
            <a:off x="666596" y="1321555"/>
            <a:ext cx="10515600" cy="48554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04F3C0-4E01-514C-A6AC-261444DB95E2}"/>
              </a:ext>
            </a:extLst>
          </p:cNvPr>
          <p:cNvSpPr>
            <a:spLocks noGrp="1"/>
          </p:cNvSpPr>
          <p:nvPr>
            <p:ph type="sldNum" sz="quarter" idx="4"/>
          </p:nvPr>
        </p:nvSpPr>
        <p:spPr>
          <a:xfrm>
            <a:off x="11508806" y="6356350"/>
            <a:ext cx="270000" cy="360000"/>
          </a:xfrm>
          <a:prstGeom prst="rect">
            <a:avLst/>
          </a:prstGeom>
        </p:spPr>
        <p:txBody>
          <a:bodyPr vert="horz" lIns="0" tIns="0" rIns="0" bIns="0" rtlCol="0" anchor="ctr"/>
          <a:lstStyle>
            <a:lvl1pPr algn="r">
              <a:defRPr sz="1000" b="1">
                <a:solidFill>
                  <a:srgbClr val="898989"/>
                </a:solidFill>
              </a:defRPr>
            </a:lvl1pPr>
          </a:lstStyle>
          <a:p>
            <a:fld id="{7C03E8FC-7EBD-BF42-9ED4-90D4B1E23A24}" type="slidenum">
              <a:rPr lang="en-US" smtClean="0"/>
              <a:pPr/>
              <a:t>‹#›</a:t>
            </a:fld>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MY" dirty="0"/>
          </a:p>
        </p:txBody>
      </p:sp>
      <p:grpSp>
        <p:nvGrpSpPr>
          <p:cNvPr id="11" name="Group 10"/>
          <p:cNvGrpSpPr/>
          <p:nvPr userDrawn="1"/>
        </p:nvGrpSpPr>
        <p:grpSpPr>
          <a:xfrm>
            <a:off x="-767806" y="0"/>
            <a:ext cx="457200" cy="2413535"/>
            <a:chOff x="-533400" y="0"/>
            <a:chExt cx="457200" cy="2413535"/>
          </a:xfrm>
          <a:effectLst>
            <a:outerShdw blurRad="50800" dist="38100" dir="2700000" algn="tl" rotWithShape="0">
              <a:prstClr val="black">
                <a:alpha val="40000"/>
              </a:prstClr>
            </a:outerShdw>
          </a:effectLst>
        </p:grpSpPr>
        <p:sp>
          <p:nvSpPr>
            <p:cNvPr id="12" name="Rectangle 11"/>
            <p:cNvSpPr/>
            <p:nvPr userDrawn="1"/>
          </p:nvSpPr>
          <p:spPr>
            <a:xfrm>
              <a:off x="-533400" y="0"/>
              <a:ext cx="457200" cy="3561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p:cNvSpPr/>
            <p:nvPr userDrawn="1"/>
          </p:nvSpPr>
          <p:spPr>
            <a:xfrm>
              <a:off x="-533400" y="357071"/>
              <a:ext cx="457200" cy="35613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p:cNvSpPr/>
            <p:nvPr userDrawn="1"/>
          </p:nvSpPr>
          <p:spPr>
            <a:xfrm>
              <a:off x="-533400" y="714142"/>
              <a:ext cx="457200" cy="356135"/>
            </a:xfrm>
            <a:prstGeom prst="rect">
              <a:avLst/>
            </a:pr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p:cNvSpPr/>
            <p:nvPr userDrawn="1"/>
          </p:nvSpPr>
          <p:spPr>
            <a:xfrm>
              <a:off x="-533400" y="1071213"/>
              <a:ext cx="457200" cy="3561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p:cNvSpPr/>
            <p:nvPr userDrawn="1"/>
          </p:nvSpPr>
          <p:spPr>
            <a:xfrm>
              <a:off x="-533400" y="1428284"/>
              <a:ext cx="457200" cy="356135"/>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p:cNvSpPr/>
            <p:nvPr userDrawn="1"/>
          </p:nvSpPr>
          <p:spPr>
            <a:xfrm>
              <a:off x="-533400" y="1785355"/>
              <a:ext cx="457200" cy="356135"/>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p:cNvSpPr/>
            <p:nvPr userDrawn="1"/>
          </p:nvSpPr>
          <p:spPr>
            <a:xfrm>
              <a:off x="-533400" y="2057400"/>
              <a:ext cx="457200" cy="356135"/>
            </a:xfrm>
            <a:prstGeom prst="rec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3912359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5"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t>Integrating ESG Risks Into Credit Assessment: Sustainability Use Case</a:t>
            </a:r>
          </a:p>
        </p:txBody>
      </p:sp>
      <p:sp>
        <p:nvSpPr>
          <p:cNvPr id="4" name="Slide Number Placeholder 3"/>
          <p:cNvSpPr>
            <a:spLocks noGrp="1"/>
          </p:cNvSpPr>
          <p:nvPr>
            <p:ph type="sldNum" sz="quarter" idx="12"/>
          </p:nvPr>
        </p:nvSpPr>
        <p:spPr/>
        <p:txBody>
          <a:bodyPr/>
          <a:lstStyle/>
          <a:p>
            <a:fld id="{7C03E8FC-7EBD-BF42-9ED4-90D4B1E23A24}" type="slidenum">
              <a:rPr lang="en-US" smtClean="0"/>
              <a:t>1</a:t>
            </a:fld>
            <a:endParaRPr lang="en-US" dirty="0"/>
          </a:p>
        </p:txBody>
      </p:sp>
      <p:sp>
        <p:nvSpPr>
          <p:cNvPr id="5" name="Text Placeholder 4"/>
          <p:cNvSpPr>
            <a:spLocks noGrp="1"/>
          </p:cNvSpPr>
          <p:nvPr>
            <p:ph type="body" sz="quarter" idx="13"/>
          </p:nvPr>
        </p:nvSpPr>
        <p:spPr/>
        <p:txBody>
          <a:bodyPr/>
          <a:lstStyle/>
          <a:p>
            <a:endParaRPr lang="en-SG" dirty="0"/>
          </a:p>
        </p:txBody>
      </p:sp>
      <p:sp>
        <p:nvSpPr>
          <p:cNvPr id="8" name="Rectangle 7">
            <a:extLst>
              <a:ext uri="{FF2B5EF4-FFF2-40B4-BE49-F238E27FC236}">
                <a16:creationId xmlns:a16="http://schemas.microsoft.com/office/drawing/2014/main" id="{E40B6492-7B16-FFF3-24CA-BA775E8F242A}"/>
              </a:ext>
            </a:extLst>
          </p:cNvPr>
          <p:cNvSpPr/>
          <p:nvPr/>
        </p:nvSpPr>
        <p:spPr>
          <a:xfrm>
            <a:off x="144327" y="1355929"/>
            <a:ext cx="1140662" cy="4861985"/>
          </a:xfrm>
          <a:prstGeom prst="rect">
            <a:avLst/>
          </a:prstGeom>
          <a:solidFill>
            <a:srgbClr val="4454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ESG and Credit Risk Integration Matrix</a:t>
            </a:r>
          </a:p>
        </p:txBody>
      </p:sp>
      <p:sp>
        <p:nvSpPr>
          <p:cNvPr id="10" name="Rectangle 9">
            <a:extLst>
              <a:ext uri="{FF2B5EF4-FFF2-40B4-BE49-F238E27FC236}">
                <a16:creationId xmlns:a16="http://schemas.microsoft.com/office/drawing/2014/main" id="{7FFECF59-112D-163E-609A-B4B478680219}"/>
              </a:ext>
            </a:extLst>
          </p:cNvPr>
          <p:cNvSpPr/>
          <p:nvPr/>
        </p:nvSpPr>
        <p:spPr>
          <a:xfrm>
            <a:off x="1382936" y="961702"/>
            <a:ext cx="3075119" cy="282150"/>
          </a:xfrm>
          <a:prstGeom prst="rect">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Understanding ESG</a:t>
            </a:r>
          </a:p>
        </p:txBody>
      </p:sp>
      <p:sp>
        <p:nvSpPr>
          <p:cNvPr id="11" name="Rectangle 10">
            <a:extLst>
              <a:ext uri="{FF2B5EF4-FFF2-40B4-BE49-F238E27FC236}">
                <a16:creationId xmlns:a16="http://schemas.microsoft.com/office/drawing/2014/main" id="{DBAF4386-AE67-C295-4B65-DCDB70AA2204}"/>
              </a:ext>
            </a:extLst>
          </p:cNvPr>
          <p:cNvSpPr/>
          <p:nvPr/>
        </p:nvSpPr>
        <p:spPr>
          <a:xfrm>
            <a:off x="4587114" y="961703"/>
            <a:ext cx="3173951" cy="28214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Define ESG metrics across each dimension</a:t>
            </a:r>
          </a:p>
        </p:txBody>
      </p:sp>
      <p:sp>
        <p:nvSpPr>
          <p:cNvPr id="12" name="Rectangle 11">
            <a:extLst>
              <a:ext uri="{FF2B5EF4-FFF2-40B4-BE49-F238E27FC236}">
                <a16:creationId xmlns:a16="http://schemas.microsoft.com/office/drawing/2014/main" id="{BB5E2C7F-49D7-8FF0-6AEF-138B008F33CF}"/>
              </a:ext>
            </a:extLst>
          </p:cNvPr>
          <p:cNvSpPr/>
          <p:nvPr/>
        </p:nvSpPr>
        <p:spPr>
          <a:xfrm>
            <a:off x="7890125" y="950923"/>
            <a:ext cx="4140660" cy="2929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Mechanism for scoring and integration with credit decision-making</a:t>
            </a:r>
          </a:p>
        </p:txBody>
      </p:sp>
      <p:sp>
        <p:nvSpPr>
          <p:cNvPr id="15" name="Rectangle 14">
            <a:extLst>
              <a:ext uri="{FF2B5EF4-FFF2-40B4-BE49-F238E27FC236}">
                <a16:creationId xmlns:a16="http://schemas.microsoft.com/office/drawing/2014/main" id="{BC3EA9F6-1B5A-54E9-1C6C-2F1277B70A08}"/>
              </a:ext>
            </a:extLst>
          </p:cNvPr>
          <p:cNvSpPr/>
          <p:nvPr/>
        </p:nvSpPr>
        <p:spPr>
          <a:xfrm>
            <a:off x="1382936" y="1312788"/>
            <a:ext cx="959742"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700" dirty="0"/>
              <a:t>Environmental Risk</a:t>
            </a:r>
          </a:p>
        </p:txBody>
      </p:sp>
      <p:sp>
        <p:nvSpPr>
          <p:cNvPr id="16" name="Rectangle 15">
            <a:extLst>
              <a:ext uri="{FF2B5EF4-FFF2-40B4-BE49-F238E27FC236}">
                <a16:creationId xmlns:a16="http://schemas.microsoft.com/office/drawing/2014/main" id="{27CAAC90-3E05-82AE-38A4-005A54381FF3}"/>
              </a:ext>
            </a:extLst>
          </p:cNvPr>
          <p:cNvSpPr/>
          <p:nvPr/>
        </p:nvSpPr>
        <p:spPr>
          <a:xfrm>
            <a:off x="2440624" y="1312788"/>
            <a:ext cx="959742"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800" dirty="0"/>
              <a:t>Social Risk</a:t>
            </a:r>
          </a:p>
        </p:txBody>
      </p:sp>
      <p:sp>
        <p:nvSpPr>
          <p:cNvPr id="17" name="Rectangle 16">
            <a:extLst>
              <a:ext uri="{FF2B5EF4-FFF2-40B4-BE49-F238E27FC236}">
                <a16:creationId xmlns:a16="http://schemas.microsoft.com/office/drawing/2014/main" id="{5DCC9D7F-BAF7-5D3C-3796-978B57CB22DC}"/>
              </a:ext>
            </a:extLst>
          </p:cNvPr>
          <p:cNvSpPr/>
          <p:nvPr/>
        </p:nvSpPr>
        <p:spPr>
          <a:xfrm>
            <a:off x="3498313" y="1312788"/>
            <a:ext cx="959742"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800" dirty="0"/>
              <a:t>Governance Risk</a:t>
            </a:r>
          </a:p>
        </p:txBody>
      </p:sp>
      <p:sp>
        <p:nvSpPr>
          <p:cNvPr id="18" name="Rectangle 17">
            <a:extLst>
              <a:ext uri="{FF2B5EF4-FFF2-40B4-BE49-F238E27FC236}">
                <a16:creationId xmlns:a16="http://schemas.microsoft.com/office/drawing/2014/main" id="{896FB57D-5993-91A4-2B24-DB411D97EF61}"/>
              </a:ext>
            </a:extLst>
          </p:cNvPr>
          <p:cNvSpPr/>
          <p:nvPr/>
        </p:nvSpPr>
        <p:spPr>
          <a:xfrm>
            <a:off x="1382936" y="1682776"/>
            <a:ext cx="959742" cy="1573539"/>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600" dirty="0">
                <a:solidFill>
                  <a:schemeClr val="tx1"/>
                </a:solidFill>
              </a:rPr>
              <a:t>&gt; Damage to PPE and inventory due to environmental catastrophes, like floods and fires etc.</a:t>
            </a:r>
          </a:p>
          <a:p>
            <a:r>
              <a:rPr lang="en-US" sz="600" dirty="0">
                <a:solidFill>
                  <a:schemeClr val="tx1"/>
                </a:solidFill>
              </a:rPr>
              <a:t>&gt; Supply chain disruptions due to environmental catastrophes and inadequate rainfall</a:t>
            </a:r>
          </a:p>
          <a:p>
            <a:r>
              <a:rPr lang="en-US" sz="600" dirty="0">
                <a:solidFill>
                  <a:schemeClr val="tx1"/>
                </a:solidFill>
              </a:rPr>
              <a:t>&gt; Govt. policies for transition to net zero emissions</a:t>
            </a:r>
          </a:p>
          <a:p>
            <a:pPr marL="171450" indent="-171450">
              <a:buFontTx/>
              <a:buChar char="-"/>
            </a:pPr>
            <a:endParaRPr lang="en-US" sz="800" dirty="0"/>
          </a:p>
        </p:txBody>
      </p:sp>
      <p:sp>
        <p:nvSpPr>
          <p:cNvPr id="19" name="Rectangle 18">
            <a:extLst>
              <a:ext uri="{FF2B5EF4-FFF2-40B4-BE49-F238E27FC236}">
                <a16:creationId xmlns:a16="http://schemas.microsoft.com/office/drawing/2014/main" id="{DE19AE78-A70A-5B3F-D513-55BDF1C294F1}"/>
              </a:ext>
            </a:extLst>
          </p:cNvPr>
          <p:cNvSpPr/>
          <p:nvPr/>
        </p:nvSpPr>
        <p:spPr>
          <a:xfrm>
            <a:off x="2440624" y="1687412"/>
            <a:ext cx="959742" cy="1573539"/>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600" dirty="0">
                <a:solidFill>
                  <a:schemeClr val="tx1"/>
                </a:solidFill>
              </a:rPr>
              <a:t>&gt; Labor strikes due to violation of labor rights</a:t>
            </a:r>
          </a:p>
          <a:p>
            <a:r>
              <a:rPr lang="en-US" sz="600" dirty="0">
                <a:solidFill>
                  <a:schemeClr val="tx1"/>
                </a:solidFill>
              </a:rPr>
              <a:t>&gt; Increase in workplace injuries</a:t>
            </a:r>
          </a:p>
          <a:p>
            <a:r>
              <a:rPr lang="en-US" sz="600" dirty="0">
                <a:solidFill>
                  <a:schemeClr val="tx1"/>
                </a:solidFill>
              </a:rPr>
              <a:t>&gt; Association with the blacklisted vendors for human rights violation</a:t>
            </a:r>
          </a:p>
          <a:p>
            <a:r>
              <a:rPr lang="en-US" sz="600" dirty="0">
                <a:solidFill>
                  <a:schemeClr val="tx1"/>
                </a:solidFill>
              </a:rPr>
              <a:t>&gt; Skewed workplace gender ratio</a:t>
            </a:r>
          </a:p>
          <a:p>
            <a:pPr marL="171450" indent="-171450">
              <a:buFontTx/>
              <a:buChar char="-"/>
            </a:pPr>
            <a:endParaRPr lang="en-US" sz="800" dirty="0"/>
          </a:p>
        </p:txBody>
      </p:sp>
      <p:sp>
        <p:nvSpPr>
          <p:cNvPr id="20" name="Rectangle 19">
            <a:extLst>
              <a:ext uri="{FF2B5EF4-FFF2-40B4-BE49-F238E27FC236}">
                <a16:creationId xmlns:a16="http://schemas.microsoft.com/office/drawing/2014/main" id="{BDE9D268-177A-4CDC-2AA8-628C752B5366}"/>
              </a:ext>
            </a:extLst>
          </p:cNvPr>
          <p:cNvSpPr/>
          <p:nvPr/>
        </p:nvSpPr>
        <p:spPr>
          <a:xfrm>
            <a:off x="3498312" y="1677840"/>
            <a:ext cx="959742" cy="1573539"/>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600" dirty="0">
                <a:solidFill>
                  <a:schemeClr val="tx1"/>
                </a:solidFill>
              </a:rPr>
              <a:t>&gt; Increase in regulatory penalties</a:t>
            </a:r>
          </a:p>
          <a:p>
            <a:r>
              <a:rPr lang="en-US" sz="600" dirty="0">
                <a:solidFill>
                  <a:schemeClr val="tx1"/>
                </a:solidFill>
              </a:rPr>
              <a:t>&gt; Increase in compliance breaches</a:t>
            </a:r>
          </a:p>
          <a:p>
            <a:r>
              <a:rPr lang="en-US" sz="600" dirty="0">
                <a:solidFill>
                  <a:schemeClr val="tx1"/>
                </a:solidFill>
              </a:rPr>
              <a:t>&gt; Resignation of independent directors due to non-compliance to ESG policies</a:t>
            </a:r>
          </a:p>
          <a:p>
            <a:r>
              <a:rPr lang="en-US" sz="600" dirty="0">
                <a:solidFill>
                  <a:schemeClr val="tx1"/>
                </a:solidFill>
              </a:rPr>
              <a:t>&gt; Adverse auditor qualifications due to non-compliance with internal policies</a:t>
            </a:r>
          </a:p>
          <a:p>
            <a:pPr marL="171450" indent="-171450">
              <a:buFontTx/>
              <a:buChar char="-"/>
            </a:pPr>
            <a:endParaRPr lang="en-US" sz="800" dirty="0"/>
          </a:p>
        </p:txBody>
      </p:sp>
      <p:sp>
        <p:nvSpPr>
          <p:cNvPr id="21" name="Rectangle 20">
            <a:extLst>
              <a:ext uri="{FF2B5EF4-FFF2-40B4-BE49-F238E27FC236}">
                <a16:creationId xmlns:a16="http://schemas.microsoft.com/office/drawing/2014/main" id="{68E5A92F-B21F-F1E4-89D5-B06A542048EE}"/>
              </a:ext>
            </a:extLst>
          </p:cNvPr>
          <p:cNvSpPr/>
          <p:nvPr/>
        </p:nvSpPr>
        <p:spPr>
          <a:xfrm>
            <a:off x="1382936" y="3484221"/>
            <a:ext cx="724833" cy="635431"/>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Adverse revenue impact</a:t>
            </a:r>
          </a:p>
        </p:txBody>
      </p:sp>
      <p:sp>
        <p:nvSpPr>
          <p:cNvPr id="22" name="Rectangle 21">
            <a:extLst>
              <a:ext uri="{FF2B5EF4-FFF2-40B4-BE49-F238E27FC236}">
                <a16:creationId xmlns:a16="http://schemas.microsoft.com/office/drawing/2014/main" id="{F1C623FA-23BA-1E9D-FA8E-A85E73926476}"/>
              </a:ext>
            </a:extLst>
          </p:cNvPr>
          <p:cNvSpPr/>
          <p:nvPr/>
        </p:nvSpPr>
        <p:spPr>
          <a:xfrm>
            <a:off x="2160668" y="3478594"/>
            <a:ext cx="724833" cy="635431"/>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700" dirty="0"/>
              <a:t>Increased operational and compliance cost</a:t>
            </a:r>
          </a:p>
        </p:txBody>
      </p:sp>
      <p:sp>
        <p:nvSpPr>
          <p:cNvPr id="23" name="Rectangle 22">
            <a:extLst>
              <a:ext uri="{FF2B5EF4-FFF2-40B4-BE49-F238E27FC236}">
                <a16:creationId xmlns:a16="http://schemas.microsoft.com/office/drawing/2014/main" id="{5FB22F5C-4416-E131-536B-2937964B2FCD}"/>
              </a:ext>
            </a:extLst>
          </p:cNvPr>
          <p:cNvSpPr/>
          <p:nvPr/>
        </p:nvSpPr>
        <p:spPr>
          <a:xfrm>
            <a:off x="2946944" y="3481680"/>
            <a:ext cx="724833" cy="635431"/>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700" dirty="0"/>
              <a:t>Risk of interruption/stoppage of operations</a:t>
            </a:r>
          </a:p>
        </p:txBody>
      </p:sp>
      <p:sp>
        <p:nvSpPr>
          <p:cNvPr id="24" name="Rectangle 23">
            <a:extLst>
              <a:ext uri="{FF2B5EF4-FFF2-40B4-BE49-F238E27FC236}">
                <a16:creationId xmlns:a16="http://schemas.microsoft.com/office/drawing/2014/main" id="{3EAB5507-6C7F-0F29-D883-284D02BBE3FD}"/>
              </a:ext>
            </a:extLst>
          </p:cNvPr>
          <p:cNvSpPr/>
          <p:nvPr/>
        </p:nvSpPr>
        <p:spPr>
          <a:xfrm>
            <a:off x="3733221" y="3481680"/>
            <a:ext cx="724833" cy="635431"/>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700" dirty="0"/>
              <a:t>Reputational risk affecting investor and consumer sentiments</a:t>
            </a:r>
          </a:p>
        </p:txBody>
      </p:sp>
      <p:sp>
        <p:nvSpPr>
          <p:cNvPr id="25" name="Rectangle 24">
            <a:extLst>
              <a:ext uri="{FF2B5EF4-FFF2-40B4-BE49-F238E27FC236}">
                <a16:creationId xmlns:a16="http://schemas.microsoft.com/office/drawing/2014/main" id="{83C12439-936C-2FAC-9C98-BC051C161818}"/>
              </a:ext>
            </a:extLst>
          </p:cNvPr>
          <p:cNvSpPr/>
          <p:nvPr/>
        </p:nvSpPr>
        <p:spPr>
          <a:xfrm>
            <a:off x="1382936" y="4193802"/>
            <a:ext cx="3075118" cy="451940"/>
          </a:xfrm>
          <a:prstGeom prst="rect">
            <a:avLst/>
          </a:prstGeom>
          <a:solidFill>
            <a:srgbClr val="ED7D31"/>
          </a:solidFill>
          <a:ln>
            <a:solidFill>
              <a:srgbClr val="ED7D3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b="1" dirty="0">
                <a:solidFill>
                  <a:schemeClr val="bg1"/>
                </a:solidFill>
              </a:rPr>
              <a:t>Adverse Impact on Credit Profile</a:t>
            </a:r>
          </a:p>
        </p:txBody>
      </p:sp>
      <p:cxnSp>
        <p:nvCxnSpPr>
          <p:cNvPr id="27" name="Straight Arrow Connector 26">
            <a:extLst>
              <a:ext uri="{FF2B5EF4-FFF2-40B4-BE49-F238E27FC236}">
                <a16:creationId xmlns:a16="http://schemas.microsoft.com/office/drawing/2014/main" id="{DAF799E6-762F-23DD-74F3-EA6D3556A00A}"/>
              </a:ext>
            </a:extLst>
          </p:cNvPr>
          <p:cNvCxnSpPr>
            <a:cxnSpLocks/>
            <a:stCxn id="15" idx="2"/>
            <a:endCxn id="18" idx="0"/>
          </p:cNvCxnSpPr>
          <p:nvPr/>
        </p:nvCxnSpPr>
        <p:spPr>
          <a:xfrm>
            <a:off x="1862807" y="1543834"/>
            <a:ext cx="0" cy="138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A50065-D6A6-3B08-A306-DF1D91950DBA}"/>
              </a:ext>
            </a:extLst>
          </p:cNvPr>
          <p:cNvCxnSpPr/>
          <p:nvPr/>
        </p:nvCxnSpPr>
        <p:spPr>
          <a:xfrm>
            <a:off x="2941888" y="1548470"/>
            <a:ext cx="0" cy="138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2767A9B-3B01-7CC9-9C65-F1DED2B3BD0A}"/>
              </a:ext>
            </a:extLst>
          </p:cNvPr>
          <p:cNvCxnSpPr>
            <a:cxnSpLocks/>
            <a:stCxn id="17" idx="2"/>
          </p:cNvCxnSpPr>
          <p:nvPr/>
        </p:nvCxnSpPr>
        <p:spPr>
          <a:xfrm flipH="1">
            <a:off x="3971228" y="1543834"/>
            <a:ext cx="6956" cy="134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8BBA171-F8C0-F99F-3ADC-1BCDF467969D}"/>
              </a:ext>
            </a:extLst>
          </p:cNvPr>
          <p:cNvCxnSpPr>
            <a:cxnSpLocks/>
            <a:stCxn id="19" idx="2"/>
          </p:cNvCxnSpPr>
          <p:nvPr/>
        </p:nvCxnSpPr>
        <p:spPr>
          <a:xfrm>
            <a:off x="2920495" y="3260951"/>
            <a:ext cx="0" cy="1026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F683E97-E863-A526-57DE-F8CC8701756F}"/>
              </a:ext>
            </a:extLst>
          </p:cNvPr>
          <p:cNvCxnSpPr>
            <a:cxnSpLocks/>
          </p:cNvCxnSpPr>
          <p:nvPr/>
        </p:nvCxnSpPr>
        <p:spPr>
          <a:xfrm>
            <a:off x="1742065" y="3363627"/>
            <a:ext cx="238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3363394-BA6F-D6A2-ADDA-94AB9598E0B1}"/>
              </a:ext>
            </a:extLst>
          </p:cNvPr>
          <p:cNvCxnSpPr>
            <a:endCxn id="21" idx="0"/>
          </p:cNvCxnSpPr>
          <p:nvPr/>
        </p:nvCxnSpPr>
        <p:spPr>
          <a:xfrm>
            <a:off x="1742065" y="3363627"/>
            <a:ext cx="3288" cy="120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11DDD26-B425-D237-8192-E1F739651328}"/>
              </a:ext>
            </a:extLst>
          </p:cNvPr>
          <p:cNvCxnSpPr/>
          <p:nvPr/>
        </p:nvCxnSpPr>
        <p:spPr>
          <a:xfrm>
            <a:off x="2528341" y="3363929"/>
            <a:ext cx="3288" cy="120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606897C-D184-1730-18AF-4BFCA43EFBD2}"/>
              </a:ext>
            </a:extLst>
          </p:cNvPr>
          <p:cNvCxnSpPr/>
          <p:nvPr/>
        </p:nvCxnSpPr>
        <p:spPr>
          <a:xfrm>
            <a:off x="3342577" y="3358000"/>
            <a:ext cx="3288" cy="120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323B855-95DF-000D-4A74-FD2038B46DBA}"/>
              </a:ext>
            </a:extLst>
          </p:cNvPr>
          <p:cNvCxnSpPr/>
          <p:nvPr/>
        </p:nvCxnSpPr>
        <p:spPr>
          <a:xfrm>
            <a:off x="4125565" y="3368703"/>
            <a:ext cx="3288" cy="120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Left Brace 53">
            <a:extLst>
              <a:ext uri="{FF2B5EF4-FFF2-40B4-BE49-F238E27FC236}">
                <a16:creationId xmlns:a16="http://schemas.microsoft.com/office/drawing/2014/main" id="{1149892E-7A2C-6867-958B-17B4C9245C43}"/>
              </a:ext>
            </a:extLst>
          </p:cNvPr>
          <p:cNvSpPr/>
          <p:nvPr/>
        </p:nvSpPr>
        <p:spPr>
          <a:xfrm rot="16200000">
            <a:off x="2889115" y="3169418"/>
            <a:ext cx="62761" cy="307511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5" name="TextBox 54">
            <a:extLst>
              <a:ext uri="{FF2B5EF4-FFF2-40B4-BE49-F238E27FC236}">
                <a16:creationId xmlns:a16="http://schemas.microsoft.com/office/drawing/2014/main" id="{922996DF-00B4-EB56-1AAB-3DC2DB4133D5}"/>
              </a:ext>
            </a:extLst>
          </p:cNvPr>
          <p:cNvSpPr txBox="1"/>
          <p:nvPr/>
        </p:nvSpPr>
        <p:spPr>
          <a:xfrm>
            <a:off x="2067537" y="4697507"/>
            <a:ext cx="1705916" cy="215444"/>
          </a:xfrm>
          <a:prstGeom prst="rect">
            <a:avLst/>
          </a:prstGeom>
          <a:noFill/>
        </p:spPr>
        <p:txBody>
          <a:bodyPr wrap="none" rtlCol="0">
            <a:spAutoFit/>
          </a:bodyPr>
          <a:lstStyle/>
          <a:p>
            <a:r>
              <a:rPr lang="en-US" sz="800" b="1" dirty="0">
                <a:solidFill>
                  <a:srgbClr val="FF0000"/>
                </a:solidFill>
              </a:rPr>
              <a:t>Increased Probability of Default</a:t>
            </a:r>
          </a:p>
        </p:txBody>
      </p:sp>
      <p:sp>
        <p:nvSpPr>
          <p:cNvPr id="58" name="TextBox 57">
            <a:extLst>
              <a:ext uri="{FF2B5EF4-FFF2-40B4-BE49-F238E27FC236}">
                <a16:creationId xmlns:a16="http://schemas.microsoft.com/office/drawing/2014/main" id="{5A5EF8C5-E220-B377-DA65-6EB69B6F5721}"/>
              </a:ext>
            </a:extLst>
          </p:cNvPr>
          <p:cNvSpPr txBox="1"/>
          <p:nvPr/>
        </p:nvSpPr>
        <p:spPr>
          <a:xfrm>
            <a:off x="4587114" y="1318080"/>
            <a:ext cx="3173951" cy="954107"/>
          </a:xfrm>
          <a:prstGeom prst="rect">
            <a:avLst/>
          </a:prstGeom>
          <a:noFill/>
        </p:spPr>
        <p:txBody>
          <a:bodyPr wrap="square" rtlCol="0">
            <a:spAutoFit/>
          </a:bodyPr>
          <a:lstStyle/>
          <a:p>
            <a:r>
              <a:rPr lang="en-US" sz="800" dirty="0"/>
              <a:t>1. Identify the categories or dimensions which they intend to understand and evaluate their borrowers’ ESG performance</a:t>
            </a:r>
          </a:p>
          <a:p>
            <a:r>
              <a:rPr lang="en-US" sz="800" dirty="0"/>
              <a:t>2. Form an ESG library through identification and definition of metrics, and assignment of criticality and limits to them</a:t>
            </a:r>
          </a:p>
          <a:p>
            <a:r>
              <a:rPr lang="en-US" sz="800" dirty="0"/>
              <a:t>3. Map the ESG metrics to each of the dimensions and prioritize parameters that are required or emphasized by regional regulations</a:t>
            </a:r>
          </a:p>
        </p:txBody>
      </p:sp>
      <p:pic>
        <p:nvPicPr>
          <p:cNvPr id="60" name="Picture 59" descr="A diagram of a company's scorecard&#10;&#10;Description automatically generated">
            <a:extLst>
              <a:ext uri="{FF2B5EF4-FFF2-40B4-BE49-F238E27FC236}">
                <a16:creationId xmlns:a16="http://schemas.microsoft.com/office/drawing/2014/main" id="{78930679-8752-BCE0-F348-B2E093400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2642" y="2287535"/>
            <a:ext cx="3178418" cy="2023168"/>
          </a:xfrm>
          <a:prstGeom prst="rect">
            <a:avLst/>
          </a:prstGeom>
        </p:spPr>
      </p:pic>
      <p:sp>
        <p:nvSpPr>
          <p:cNvPr id="62" name="TextBox 61">
            <a:extLst>
              <a:ext uri="{FF2B5EF4-FFF2-40B4-BE49-F238E27FC236}">
                <a16:creationId xmlns:a16="http://schemas.microsoft.com/office/drawing/2014/main" id="{F54B7839-737F-19B3-CE64-3B9BE8712FA4}"/>
              </a:ext>
            </a:extLst>
          </p:cNvPr>
          <p:cNvSpPr txBox="1"/>
          <p:nvPr/>
        </p:nvSpPr>
        <p:spPr>
          <a:xfrm>
            <a:off x="4582642" y="4378207"/>
            <a:ext cx="3178418" cy="461665"/>
          </a:xfrm>
          <a:prstGeom prst="rect">
            <a:avLst/>
          </a:prstGeom>
          <a:noFill/>
        </p:spPr>
        <p:txBody>
          <a:bodyPr wrap="square" rtlCol="0">
            <a:spAutoFit/>
          </a:bodyPr>
          <a:lstStyle/>
          <a:p>
            <a:r>
              <a:rPr lang="en-US" sz="800" dirty="0"/>
              <a:t>4. Define units and assign specific limits and tolerances to the individual metrics, expressed either as qualitative or quantitative measures</a:t>
            </a:r>
          </a:p>
        </p:txBody>
      </p:sp>
      <p:sp>
        <p:nvSpPr>
          <p:cNvPr id="63" name="TextBox 62">
            <a:extLst>
              <a:ext uri="{FF2B5EF4-FFF2-40B4-BE49-F238E27FC236}">
                <a16:creationId xmlns:a16="http://schemas.microsoft.com/office/drawing/2014/main" id="{F4E2F3FB-785A-A807-40D2-A7E304A33892}"/>
              </a:ext>
            </a:extLst>
          </p:cNvPr>
          <p:cNvSpPr txBox="1"/>
          <p:nvPr/>
        </p:nvSpPr>
        <p:spPr>
          <a:xfrm>
            <a:off x="7890124" y="1318449"/>
            <a:ext cx="4140660" cy="584775"/>
          </a:xfrm>
          <a:prstGeom prst="rect">
            <a:avLst/>
          </a:prstGeom>
          <a:noFill/>
        </p:spPr>
        <p:txBody>
          <a:bodyPr wrap="square" rtlCol="0">
            <a:spAutoFit/>
          </a:bodyPr>
          <a:lstStyle/>
          <a:p>
            <a:r>
              <a:rPr lang="en-US" sz="800" dirty="0"/>
              <a:t>After defining a base architecture of the ESG assessment framework, the next step is to combine the evaluation of individual metrics to arrive at a consolidated ESG profile of the borrower, and further integrating the same with the credit assessment to arrive at a holistic profile of the borrower</a:t>
            </a:r>
          </a:p>
        </p:txBody>
      </p:sp>
      <p:sp>
        <p:nvSpPr>
          <p:cNvPr id="64" name="TextBox 63">
            <a:extLst>
              <a:ext uri="{FF2B5EF4-FFF2-40B4-BE49-F238E27FC236}">
                <a16:creationId xmlns:a16="http://schemas.microsoft.com/office/drawing/2014/main" id="{F7FB815D-F18C-FD7F-941F-49F5EEAF7274}"/>
              </a:ext>
            </a:extLst>
          </p:cNvPr>
          <p:cNvSpPr txBox="1"/>
          <p:nvPr/>
        </p:nvSpPr>
        <p:spPr>
          <a:xfrm>
            <a:off x="7893784" y="1872036"/>
            <a:ext cx="4137000" cy="830997"/>
          </a:xfrm>
          <a:prstGeom prst="rect">
            <a:avLst/>
          </a:prstGeom>
          <a:noFill/>
        </p:spPr>
        <p:txBody>
          <a:bodyPr wrap="square" rtlCol="0">
            <a:spAutoFit/>
          </a:bodyPr>
          <a:lstStyle/>
          <a:p>
            <a:r>
              <a:rPr lang="en-US" sz="800" b="1" dirty="0"/>
              <a:t>Proposed Approach: </a:t>
            </a:r>
            <a:r>
              <a:rPr lang="en-US" sz="800" dirty="0"/>
              <a:t>Develop a separate scorecard for ESG assessment and merge the output with the existing credit scorecard architecture.</a:t>
            </a:r>
          </a:p>
          <a:p>
            <a:r>
              <a:rPr lang="en-US" sz="800" dirty="0"/>
              <a:t>- Two outcomes which may be merged to arrive at an adjusted rating. An illustrative merging approach is highlighted in the figure below, where the values in the cells indicate how many levels the credit-based rating output must be notched down based on the ESG output</a:t>
            </a:r>
          </a:p>
        </p:txBody>
      </p:sp>
      <p:graphicFrame>
        <p:nvGraphicFramePr>
          <p:cNvPr id="65" name="Table 64">
            <a:extLst>
              <a:ext uri="{FF2B5EF4-FFF2-40B4-BE49-F238E27FC236}">
                <a16:creationId xmlns:a16="http://schemas.microsoft.com/office/drawing/2014/main" id="{47303E17-63B1-B0D9-E57D-6E1C47DA0A0B}"/>
              </a:ext>
            </a:extLst>
          </p:cNvPr>
          <p:cNvGraphicFramePr>
            <a:graphicFrameLocks noGrp="1"/>
          </p:cNvGraphicFramePr>
          <p:nvPr>
            <p:extLst>
              <p:ext uri="{D42A27DB-BD31-4B8C-83A1-F6EECF244321}">
                <p14:modId xmlns:p14="http://schemas.microsoft.com/office/powerpoint/2010/main" val="1511413763"/>
              </p:ext>
            </p:extLst>
          </p:nvPr>
        </p:nvGraphicFramePr>
        <p:xfrm>
          <a:off x="7893785" y="2855763"/>
          <a:ext cx="4153888" cy="1737408"/>
        </p:xfrm>
        <a:graphic>
          <a:graphicData uri="http://schemas.openxmlformats.org/drawingml/2006/table">
            <a:tbl>
              <a:tblPr firstRow="1" bandRow="1">
                <a:tableStyleId>{2D5ABB26-0587-4C30-8999-92F81FD0307C}</a:tableStyleId>
              </a:tblPr>
              <a:tblGrid>
                <a:gridCol w="1055232">
                  <a:extLst>
                    <a:ext uri="{9D8B030D-6E8A-4147-A177-3AD203B41FA5}">
                      <a16:colId xmlns:a16="http://schemas.microsoft.com/office/drawing/2014/main" val="1625833865"/>
                    </a:ext>
                  </a:extLst>
                </a:gridCol>
                <a:gridCol w="491336">
                  <a:extLst>
                    <a:ext uri="{9D8B030D-6E8A-4147-A177-3AD203B41FA5}">
                      <a16:colId xmlns:a16="http://schemas.microsoft.com/office/drawing/2014/main" val="111423516"/>
                    </a:ext>
                  </a:extLst>
                </a:gridCol>
                <a:gridCol w="521464">
                  <a:extLst>
                    <a:ext uri="{9D8B030D-6E8A-4147-A177-3AD203B41FA5}">
                      <a16:colId xmlns:a16="http://schemas.microsoft.com/office/drawing/2014/main" val="1626711900"/>
                    </a:ext>
                  </a:extLst>
                </a:gridCol>
                <a:gridCol w="521464">
                  <a:extLst>
                    <a:ext uri="{9D8B030D-6E8A-4147-A177-3AD203B41FA5}">
                      <a16:colId xmlns:a16="http://schemas.microsoft.com/office/drawing/2014/main" val="4189178679"/>
                    </a:ext>
                  </a:extLst>
                </a:gridCol>
                <a:gridCol w="521464">
                  <a:extLst>
                    <a:ext uri="{9D8B030D-6E8A-4147-A177-3AD203B41FA5}">
                      <a16:colId xmlns:a16="http://schemas.microsoft.com/office/drawing/2014/main" val="3057662355"/>
                    </a:ext>
                  </a:extLst>
                </a:gridCol>
                <a:gridCol w="521464">
                  <a:extLst>
                    <a:ext uri="{9D8B030D-6E8A-4147-A177-3AD203B41FA5}">
                      <a16:colId xmlns:a16="http://schemas.microsoft.com/office/drawing/2014/main" val="4199063395"/>
                    </a:ext>
                  </a:extLst>
                </a:gridCol>
                <a:gridCol w="521464">
                  <a:extLst>
                    <a:ext uri="{9D8B030D-6E8A-4147-A177-3AD203B41FA5}">
                      <a16:colId xmlns:a16="http://schemas.microsoft.com/office/drawing/2014/main" val="4251909533"/>
                    </a:ext>
                  </a:extLst>
                </a:gridCol>
              </a:tblGrid>
              <a:tr h="175155">
                <a:tc rowSpan="2" gridSpan="2">
                  <a:txBody>
                    <a:bodyPr/>
                    <a:lstStyle/>
                    <a:p>
                      <a:pPr algn="ctr"/>
                      <a:r>
                        <a:rPr lang="en-US" sz="600" b="1" dirty="0">
                          <a:solidFill>
                            <a:schemeClr val="bg1"/>
                          </a:solidFill>
                        </a:rPr>
                        <a:t>Rating adjustment Matrix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rowSpan="2" hMerge="1">
                  <a:txBody>
                    <a:bodyPr/>
                    <a:lstStyle/>
                    <a:p>
                      <a:endParaRPr lang="en-US" dirty="0"/>
                    </a:p>
                  </a:txBody>
                  <a:tcPr/>
                </a:tc>
                <a:tc gridSpan="5">
                  <a:txBody>
                    <a:bodyPr/>
                    <a:lstStyle/>
                    <a:p>
                      <a:pPr algn="ctr"/>
                      <a:r>
                        <a:rPr lang="en-US" sz="600" b="1" dirty="0">
                          <a:solidFill>
                            <a:schemeClr val="bg1"/>
                          </a:solidFill>
                        </a:rPr>
                        <a:t>Output of ESG scorecard*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396959220"/>
                  </a:ext>
                </a:extLst>
              </a:tr>
              <a:tr h="259088">
                <a:tc gridSpan="2" vMerge="1">
                  <a:txBody>
                    <a:bodyPr/>
                    <a:lstStyle/>
                    <a:p>
                      <a:endParaRPr lang="en-US"/>
                    </a:p>
                  </a:txBody>
                  <a:tcPr/>
                </a:tc>
                <a:tc hMerge="1" vMerge="1">
                  <a:txBody>
                    <a:bodyPr/>
                    <a:lstStyle/>
                    <a:p>
                      <a:endParaRPr lang="en-US" dirty="0"/>
                    </a:p>
                  </a:txBody>
                  <a:tcPr/>
                </a:tc>
                <a:tc>
                  <a:txBody>
                    <a:bodyPr/>
                    <a:lstStyle/>
                    <a:p>
                      <a:pPr algn="ctr"/>
                      <a:r>
                        <a:rPr lang="en-US" sz="600" b="1" dirty="0">
                          <a:solidFill>
                            <a:schemeClr val="bg1"/>
                          </a:solidFill>
                        </a:rPr>
                        <a:t>ESG1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tc>
                  <a:txBody>
                    <a:bodyPr/>
                    <a:lstStyle/>
                    <a:p>
                      <a:pPr algn="ctr"/>
                      <a:r>
                        <a:rPr lang="en-US" sz="600" b="1" dirty="0">
                          <a:solidFill>
                            <a:schemeClr val="bg1"/>
                          </a:solidFill>
                        </a:rPr>
                        <a:t>ESG2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ctr"/>
                      <a:r>
                        <a:rPr lang="en-US" sz="600" b="1" dirty="0">
                          <a:solidFill>
                            <a:schemeClr val="bg1"/>
                          </a:solidFill>
                        </a:rPr>
                        <a:t>ESG3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ctr"/>
                      <a:r>
                        <a:rPr lang="en-US" sz="600" b="1" dirty="0">
                          <a:solidFill>
                            <a:schemeClr val="bg1"/>
                          </a:solidFill>
                        </a:rPr>
                        <a:t>ESG4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US" sz="600" b="1" dirty="0">
                          <a:solidFill>
                            <a:schemeClr val="bg1"/>
                          </a:solidFill>
                        </a:rPr>
                        <a:t>ESG5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2278772292"/>
                  </a:ext>
                </a:extLst>
              </a:tr>
              <a:tr h="259088">
                <a:tc rowSpan="5">
                  <a:txBody>
                    <a:bodyPr/>
                    <a:lstStyle/>
                    <a:p>
                      <a:pPr algn="ctr"/>
                      <a:r>
                        <a:rPr lang="en-US" sz="600" b="1" dirty="0">
                          <a:solidFill>
                            <a:schemeClr val="bg1"/>
                          </a:solidFill>
                        </a:rPr>
                        <a:t>Output of credit risk scorecard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a:txBody>
                    <a:bodyPr/>
                    <a:lstStyle/>
                    <a:p>
                      <a:pPr algn="ctr"/>
                      <a:r>
                        <a:rPr lang="en-US" sz="600" b="1" dirty="0">
                          <a:solidFill>
                            <a:schemeClr val="bg1"/>
                          </a:solidFill>
                        </a:rPr>
                        <a:t>CR1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1991112733"/>
                  </a:ext>
                </a:extLst>
              </a:tr>
              <a:tr h="259088">
                <a:tc vMerge="1">
                  <a:txBody>
                    <a:bodyPr/>
                    <a:lstStyle/>
                    <a:p>
                      <a:endParaRPr lang="en-US"/>
                    </a:p>
                  </a:txBody>
                  <a:tcPr/>
                </a:tc>
                <a:tc>
                  <a:txBody>
                    <a:bodyPr/>
                    <a:lstStyle/>
                    <a:p>
                      <a:pPr algn="ctr"/>
                      <a:r>
                        <a:rPr lang="en-US" sz="600" b="1" dirty="0">
                          <a:solidFill>
                            <a:schemeClr val="bg1"/>
                          </a:solidFill>
                        </a:rPr>
                        <a:t>CR2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773678730"/>
                  </a:ext>
                </a:extLst>
              </a:tr>
              <a:tr h="259088">
                <a:tc vMerge="1">
                  <a:txBody>
                    <a:bodyPr/>
                    <a:lstStyle/>
                    <a:p>
                      <a:endParaRPr lang="en-US"/>
                    </a:p>
                  </a:txBody>
                  <a:tcPr/>
                </a:tc>
                <a:tc>
                  <a:txBody>
                    <a:bodyPr/>
                    <a:lstStyle/>
                    <a:p>
                      <a:pPr algn="ctr"/>
                      <a:r>
                        <a:rPr lang="en-US" sz="600" b="1" dirty="0">
                          <a:solidFill>
                            <a:schemeClr val="bg1"/>
                          </a:solidFill>
                        </a:rPr>
                        <a:t>CR3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3117555595"/>
                  </a:ext>
                </a:extLst>
              </a:tr>
              <a:tr h="259088">
                <a:tc vMerge="1">
                  <a:txBody>
                    <a:bodyPr/>
                    <a:lstStyle/>
                    <a:p>
                      <a:endParaRPr lang="en-US"/>
                    </a:p>
                  </a:txBody>
                  <a:tcPr/>
                </a:tc>
                <a:tc>
                  <a:txBody>
                    <a:bodyPr/>
                    <a:lstStyle/>
                    <a:p>
                      <a:pPr algn="ctr"/>
                      <a:r>
                        <a:rPr lang="en-US" sz="600" b="1" dirty="0">
                          <a:solidFill>
                            <a:schemeClr val="bg1"/>
                          </a:solidFill>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2948673955"/>
                  </a:ext>
                </a:extLst>
              </a:tr>
              <a:tr h="259088">
                <a:tc vMerge="1">
                  <a:txBody>
                    <a:bodyPr/>
                    <a:lstStyle/>
                    <a:p>
                      <a:endParaRPr lang="en-US" dirty="0"/>
                    </a:p>
                  </a:txBody>
                  <a:tcPr/>
                </a:tc>
                <a:tc>
                  <a:txBody>
                    <a:bodyPr/>
                    <a:lstStyle/>
                    <a:p>
                      <a:pPr algn="ctr"/>
                      <a:r>
                        <a:rPr lang="en-US" sz="600" b="1" dirty="0">
                          <a:solidFill>
                            <a:schemeClr val="bg1"/>
                          </a:solidFill>
                        </a:rPr>
                        <a:t>CR10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4088803433"/>
                  </a:ext>
                </a:extLst>
              </a:tr>
            </a:tbl>
          </a:graphicData>
        </a:graphic>
      </p:graphicFrame>
      <p:sp>
        <p:nvSpPr>
          <p:cNvPr id="66" name="TextBox 65">
            <a:extLst>
              <a:ext uri="{FF2B5EF4-FFF2-40B4-BE49-F238E27FC236}">
                <a16:creationId xmlns:a16="http://schemas.microsoft.com/office/drawing/2014/main" id="{C9F59EC3-F901-94A3-1320-93ECFD493A94}"/>
              </a:ext>
            </a:extLst>
          </p:cNvPr>
          <p:cNvSpPr txBox="1"/>
          <p:nvPr/>
        </p:nvSpPr>
        <p:spPr>
          <a:xfrm>
            <a:off x="7881460" y="4588812"/>
            <a:ext cx="3315331" cy="184666"/>
          </a:xfrm>
          <a:prstGeom prst="rect">
            <a:avLst/>
          </a:prstGeom>
          <a:noFill/>
        </p:spPr>
        <p:txBody>
          <a:bodyPr wrap="none" rtlCol="0">
            <a:spAutoFit/>
          </a:bodyPr>
          <a:lstStyle/>
          <a:p>
            <a:r>
              <a:rPr lang="en-US" sz="600" dirty="0"/>
              <a:t>* On an illustrative 5-point scale, with a higher numerical suffix indicating higher risk level</a:t>
            </a:r>
          </a:p>
        </p:txBody>
      </p:sp>
      <p:sp>
        <p:nvSpPr>
          <p:cNvPr id="67" name="TextBox 66">
            <a:extLst>
              <a:ext uri="{FF2B5EF4-FFF2-40B4-BE49-F238E27FC236}">
                <a16:creationId xmlns:a16="http://schemas.microsoft.com/office/drawing/2014/main" id="{4224ACB3-0AAC-51C9-3F12-AB6B66971657}"/>
              </a:ext>
            </a:extLst>
          </p:cNvPr>
          <p:cNvSpPr txBox="1"/>
          <p:nvPr/>
        </p:nvSpPr>
        <p:spPr>
          <a:xfrm>
            <a:off x="8908499" y="2648957"/>
            <a:ext cx="2079415" cy="215444"/>
          </a:xfrm>
          <a:prstGeom prst="rect">
            <a:avLst/>
          </a:prstGeom>
          <a:noFill/>
        </p:spPr>
        <p:txBody>
          <a:bodyPr wrap="none" rtlCol="0">
            <a:spAutoFit/>
          </a:bodyPr>
          <a:lstStyle/>
          <a:p>
            <a:r>
              <a:rPr lang="en-US" sz="800" b="1" i="1" dirty="0"/>
              <a:t>Rating adjustment (notch-down) matrix</a:t>
            </a:r>
          </a:p>
        </p:txBody>
      </p:sp>
      <p:sp>
        <p:nvSpPr>
          <p:cNvPr id="68" name="Rectangle 67">
            <a:extLst>
              <a:ext uri="{FF2B5EF4-FFF2-40B4-BE49-F238E27FC236}">
                <a16:creationId xmlns:a16="http://schemas.microsoft.com/office/drawing/2014/main" id="{52ED8CEE-3170-AAA9-4E9C-4976282F81BA}"/>
              </a:ext>
            </a:extLst>
          </p:cNvPr>
          <p:cNvSpPr/>
          <p:nvPr/>
        </p:nvSpPr>
        <p:spPr>
          <a:xfrm>
            <a:off x="1382936" y="4964716"/>
            <a:ext cx="6307168" cy="1293591"/>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r>
              <a:rPr lang="en-US" sz="800" b="1" dirty="0">
                <a:solidFill>
                  <a:srgbClr val="00B050"/>
                </a:solidFill>
              </a:rPr>
              <a:t>Standard </a:t>
            </a:r>
            <a:r>
              <a:rPr lang="en-US" sz="800" b="1" dirty="0">
                <a:solidFill>
                  <a:srgbClr val="0070C0"/>
                </a:solidFill>
              </a:rPr>
              <a:t>Chartered: </a:t>
            </a:r>
            <a:r>
              <a:rPr lang="en-US" sz="800" dirty="0"/>
              <a:t>Strategy and Market Activities</a:t>
            </a:r>
          </a:p>
          <a:p>
            <a:r>
              <a:rPr lang="en-US" sz="700" dirty="0"/>
              <a:t>Internal ESG rating that is assigned to a company, which is an evaluation of its focus and direction when it comes to ESG issues. Their rating factors in how well the company manages ESG issues that are most material to its business.</a:t>
            </a:r>
          </a:p>
          <a:p>
            <a:r>
              <a:rPr lang="en-US" sz="700" b="1" dirty="0"/>
              <a:t>How they determine a company’s ESG rating:</a:t>
            </a:r>
            <a:r>
              <a:rPr lang="en-US" sz="700" dirty="0"/>
              <a:t> Companies span many different sectors, so most third-party ESG ratings are assigned against a set of industry-specific criteria, relative to its peers. These include material ESG factors that can impact stakeholder value for the company. They update them regularly, which allows their analysts to monitor progress or deterioration against set goals and update their assessment. </a:t>
            </a:r>
          </a:p>
          <a:p>
            <a:r>
              <a:rPr lang="en-US" sz="700" b="1" dirty="0"/>
              <a:t>What they do with the ratings: </a:t>
            </a:r>
            <a:r>
              <a:rPr lang="en-US" sz="700" dirty="0"/>
              <a:t>They produce unique insights into how corporates are performing on ESG-related issues. If these insights are built into their analyst ratings system, it can help investment managers by providing a forward-looking view of factors influencing a company’s ESG performance and direction, not being involved in ESG controversies and allowing them to consider the non-financial risks and opportunities associated with sustainable investing</a:t>
            </a:r>
            <a:endParaRPr lang="en-US" sz="700" b="1" dirty="0"/>
          </a:p>
        </p:txBody>
      </p:sp>
      <p:sp>
        <p:nvSpPr>
          <p:cNvPr id="69" name="Rectangle 68">
            <a:extLst>
              <a:ext uri="{FF2B5EF4-FFF2-40B4-BE49-F238E27FC236}">
                <a16:creationId xmlns:a16="http://schemas.microsoft.com/office/drawing/2014/main" id="{0E28D4A0-5BDA-94ED-F5CC-CF1B77D1BBAB}"/>
              </a:ext>
            </a:extLst>
          </p:cNvPr>
          <p:cNvSpPr/>
          <p:nvPr/>
        </p:nvSpPr>
        <p:spPr>
          <a:xfrm>
            <a:off x="9999668" y="4881773"/>
            <a:ext cx="2031116" cy="1376534"/>
          </a:xfrm>
          <a:prstGeom prst="rect">
            <a:avLst/>
          </a:prstGeom>
        </p:spPr>
        <p:style>
          <a:lnRef idx="1">
            <a:schemeClr val="accent3"/>
          </a:lnRef>
          <a:fillRef idx="2">
            <a:schemeClr val="accent3"/>
          </a:fillRef>
          <a:effectRef idx="1">
            <a:schemeClr val="accent3"/>
          </a:effectRef>
          <a:fontRef idx="minor">
            <a:schemeClr val="dk1"/>
          </a:fontRef>
        </p:style>
        <p:txBody>
          <a:bodyPr rtlCol="0" anchor="t"/>
          <a:lstStyle/>
          <a:p>
            <a:r>
              <a:rPr lang="en-US" sz="800" b="1" dirty="0"/>
              <a:t>Alternative</a:t>
            </a:r>
            <a:r>
              <a:rPr lang="en-US" sz="800" dirty="0"/>
              <a:t>: Integrated Credit-ESG Rating Scorecard </a:t>
            </a:r>
          </a:p>
          <a:p>
            <a:r>
              <a:rPr lang="en-US" sz="800" dirty="0"/>
              <a:t>In this case there will be a single score/output linked to corresponding probability of default</a:t>
            </a:r>
          </a:p>
          <a:p>
            <a:r>
              <a:rPr lang="en-US" sz="800" dirty="0"/>
              <a:t>For example, the assessment of business risk may include ESG-specific risks, e.g., Litigations around environmental or social controversies</a:t>
            </a:r>
          </a:p>
          <a:p>
            <a:endParaRPr lang="en-US" sz="800" dirty="0"/>
          </a:p>
        </p:txBody>
      </p:sp>
      <p:sp>
        <p:nvSpPr>
          <p:cNvPr id="70" name="Rectangle 69">
            <a:extLst>
              <a:ext uri="{FF2B5EF4-FFF2-40B4-BE49-F238E27FC236}">
                <a16:creationId xmlns:a16="http://schemas.microsoft.com/office/drawing/2014/main" id="{55AAC86D-39E7-44EA-D54C-FEB506A716B5}"/>
              </a:ext>
            </a:extLst>
          </p:cNvPr>
          <p:cNvSpPr/>
          <p:nvPr/>
        </p:nvSpPr>
        <p:spPr>
          <a:xfrm>
            <a:off x="7881460" y="4881773"/>
            <a:ext cx="2031116" cy="1376534"/>
          </a:xfrm>
          <a:prstGeom prst="rect">
            <a:avLst/>
          </a:prstGeom>
        </p:spPr>
        <p:style>
          <a:lnRef idx="1">
            <a:schemeClr val="accent3"/>
          </a:lnRef>
          <a:fillRef idx="2">
            <a:schemeClr val="accent3"/>
          </a:fillRef>
          <a:effectRef idx="1">
            <a:schemeClr val="accent3"/>
          </a:effectRef>
          <a:fontRef idx="minor">
            <a:schemeClr val="dk1"/>
          </a:fontRef>
        </p:style>
        <p:txBody>
          <a:bodyPr rtlCol="0" anchor="t"/>
          <a:lstStyle/>
          <a:p>
            <a:r>
              <a:rPr lang="en-US" sz="800" b="1" dirty="0"/>
              <a:t>Note</a:t>
            </a:r>
            <a:r>
              <a:rPr lang="en-US" sz="800" dirty="0"/>
              <a:t>:</a:t>
            </a:r>
          </a:p>
          <a:p>
            <a:r>
              <a:rPr lang="en-SG" sz="800" dirty="0"/>
              <a:t>The influence of ESG ratings on a company's credit risk score is </a:t>
            </a:r>
            <a:r>
              <a:rPr lang="en-SG" sz="800" b="1" dirty="0"/>
              <a:t>non-linear and context-dependent</a:t>
            </a:r>
            <a:r>
              <a:rPr lang="en-SG" sz="800" dirty="0"/>
              <a:t>. For companies already in poor credit standing, the primary drivers of creditworthiness are typically unrelated to ESG factors, which reduces the relative impact of ESG considerations.</a:t>
            </a:r>
            <a:endParaRPr lang="en-US" sz="800" dirty="0"/>
          </a:p>
        </p:txBody>
      </p:sp>
    </p:spTree>
    <p:extLst>
      <p:ext uri="{BB962C8B-B14F-4D97-AF65-F5344CB8AC3E}">
        <p14:creationId xmlns:p14="http://schemas.microsoft.com/office/powerpoint/2010/main" val="3548869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B2062-0FDB-F91A-7E5D-FB85D4AFADF4}"/>
              </a:ext>
            </a:extLst>
          </p:cNvPr>
          <p:cNvSpPr>
            <a:spLocks noGrp="1"/>
          </p:cNvSpPr>
          <p:nvPr>
            <p:ph type="title"/>
          </p:nvPr>
        </p:nvSpPr>
        <p:spPr/>
        <p:txBody>
          <a:bodyPr>
            <a:normAutofit/>
          </a:bodyPr>
          <a:lstStyle/>
          <a:p>
            <a:r>
              <a:rPr lang="en-US" sz="2400" dirty="0"/>
              <a:t>Example of defining units, limits, and tolerances for a sample ESG metric</a:t>
            </a:r>
          </a:p>
        </p:txBody>
      </p:sp>
      <p:sp>
        <p:nvSpPr>
          <p:cNvPr id="4" name="Slide Number Placeholder 3">
            <a:extLst>
              <a:ext uri="{FF2B5EF4-FFF2-40B4-BE49-F238E27FC236}">
                <a16:creationId xmlns:a16="http://schemas.microsoft.com/office/drawing/2014/main" id="{773D775F-54A4-A881-8626-BF88510A0A61}"/>
              </a:ext>
            </a:extLst>
          </p:cNvPr>
          <p:cNvSpPr>
            <a:spLocks noGrp="1"/>
          </p:cNvSpPr>
          <p:nvPr>
            <p:ph type="sldNum" sz="quarter" idx="12"/>
          </p:nvPr>
        </p:nvSpPr>
        <p:spPr/>
        <p:txBody>
          <a:bodyPr/>
          <a:lstStyle/>
          <a:p>
            <a:fld id="{7C03E8FC-7EBD-BF42-9ED4-90D4B1E23A24}" type="slidenum">
              <a:rPr lang="en-US" smtClean="0"/>
              <a:t>2</a:t>
            </a:fld>
            <a:endParaRPr lang="en-US" dirty="0"/>
          </a:p>
        </p:txBody>
      </p:sp>
      <p:sp>
        <p:nvSpPr>
          <p:cNvPr id="5" name="Text Placeholder 4">
            <a:extLst>
              <a:ext uri="{FF2B5EF4-FFF2-40B4-BE49-F238E27FC236}">
                <a16:creationId xmlns:a16="http://schemas.microsoft.com/office/drawing/2014/main" id="{21EEB1F4-7D7F-4D41-47DC-98D8929E7B66}"/>
              </a:ext>
            </a:extLst>
          </p:cNvPr>
          <p:cNvSpPr>
            <a:spLocks noGrp="1"/>
          </p:cNvSpPr>
          <p:nvPr>
            <p:ph type="body" sz="quarter" idx="13"/>
          </p:nvPr>
        </p:nvSpPr>
        <p:spPr/>
        <p:txBody>
          <a:bodyPr/>
          <a:lstStyle/>
          <a:p>
            <a:endParaRPr lang="en-US"/>
          </a:p>
        </p:txBody>
      </p:sp>
      <p:graphicFrame>
        <p:nvGraphicFramePr>
          <p:cNvPr id="6" name="Table 5">
            <a:extLst>
              <a:ext uri="{FF2B5EF4-FFF2-40B4-BE49-F238E27FC236}">
                <a16:creationId xmlns:a16="http://schemas.microsoft.com/office/drawing/2014/main" id="{85BD2F4F-49A9-46AD-D908-D46737C0483D}"/>
              </a:ext>
            </a:extLst>
          </p:cNvPr>
          <p:cNvGraphicFramePr>
            <a:graphicFrameLocks noGrp="1"/>
          </p:cNvGraphicFramePr>
          <p:nvPr>
            <p:extLst>
              <p:ext uri="{D42A27DB-BD31-4B8C-83A1-F6EECF244321}">
                <p14:modId xmlns:p14="http://schemas.microsoft.com/office/powerpoint/2010/main" val="3414905207"/>
              </p:ext>
            </p:extLst>
          </p:nvPr>
        </p:nvGraphicFramePr>
        <p:xfrm>
          <a:off x="193040" y="886523"/>
          <a:ext cx="11805920" cy="5460937"/>
        </p:xfrm>
        <a:graphic>
          <a:graphicData uri="http://schemas.openxmlformats.org/drawingml/2006/table">
            <a:tbl>
              <a:tblPr firstRow="1" bandRow="1">
                <a:tableStyleId>{2D5ABB26-0587-4C30-8999-92F81FD0307C}</a:tableStyleId>
              </a:tblPr>
              <a:tblGrid>
                <a:gridCol w="2156441">
                  <a:extLst>
                    <a:ext uri="{9D8B030D-6E8A-4147-A177-3AD203B41FA5}">
                      <a16:colId xmlns:a16="http://schemas.microsoft.com/office/drawing/2014/main" val="2934362297"/>
                    </a:ext>
                  </a:extLst>
                </a:gridCol>
                <a:gridCol w="3216493">
                  <a:extLst>
                    <a:ext uri="{9D8B030D-6E8A-4147-A177-3AD203B41FA5}">
                      <a16:colId xmlns:a16="http://schemas.microsoft.com/office/drawing/2014/main" val="373843466"/>
                    </a:ext>
                  </a:extLst>
                </a:gridCol>
                <a:gridCol w="3216493">
                  <a:extLst>
                    <a:ext uri="{9D8B030D-6E8A-4147-A177-3AD203B41FA5}">
                      <a16:colId xmlns:a16="http://schemas.microsoft.com/office/drawing/2014/main" val="3517303626"/>
                    </a:ext>
                  </a:extLst>
                </a:gridCol>
                <a:gridCol w="3216493">
                  <a:extLst>
                    <a:ext uri="{9D8B030D-6E8A-4147-A177-3AD203B41FA5}">
                      <a16:colId xmlns:a16="http://schemas.microsoft.com/office/drawing/2014/main" val="2198312987"/>
                    </a:ext>
                  </a:extLst>
                </a:gridCol>
              </a:tblGrid>
              <a:tr h="0">
                <a:tc>
                  <a:txBody>
                    <a:bodyPr/>
                    <a:lstStyle/>
                    <a:p>
                      <a:endParaRPr lang="en-US" dirty="0"/>
                    </a:p>
                  </a:txBody>
                  <a:tcPr marL="137160" marR="137160" marT="137160" marB="13716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1400" b="1" dirty="0">
                          <a:solidFill>
                            <a:schemeClr val="bg1"/>
                          </a:solidFill>
                        </a:rPr>
                        <a:t>Option 1:</a:t>
                      </a:r>
                    </a:p>
                    <a:p>
                      <a:pPr algn="ctr"/>
                      <a:r>
                        <a:rPr lang="en-SG" sz="800" dirty="0">
                          <a:solidFill>
                            <a:schemeClr val="bg1"/>
                          </a:solidFill>
                        </a:rPr>
                        <a:t>Absolute Benchmarking</a:t>
                      </a:r>
                      <a:endParaRPr lang="en-US" sz="800" b="1" dirty="0">
                        <a:solidFill>
                          <a:schemeClr val="bg1"/>
                        </a:solidFill>
                      </a:endParaRPr>
                    </a:p>
                  </a:txBody>
                  <a:tcPr marL="137160" marR="137160" marT="137160" marB="13716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ysDash"/>
                      <a:round/>
                      <a:headEnd type="none" w="med" len="med"/>
                      <a:tailEnd type="none" w="med" len="med"/>
                    </a:lnB>
                    <a:solidFill>
                      <a:schemeClr val="tx2"/>
                    </a:solidFill>
                  </a:tcPr>
                </a:tc>
                <a:tc>
                  <a:txBody>
                    <a:bodyPr/>
                    <a:lstStyle/>
                    <a:p>
                      <a:pPr algn="ctr"/>
                      <a:r>
                        <a:rPr lang="en-US" sz="1400" b="1" dirty="0">
                          <a:solidFill>
                            <a:schemeClr val="bg1"/>
                          </a:solidFill>
                        </a:rPr>
                        <a:t>Option 2:</a:t>
                      </a:r>
                    </a:p>
                    <a:p>
                      <a:pPr algn="ctr"/>
                      <a:r>
                        <a:rPr lang="en-US" sz="800" b="1" dirty="0">
                          <a:solidFill>
                            <a:schemeClr val="bg1"/>
                          </a:solidFill>
                        </a:rPr>
                        <a:t>Trend Analysis</a:t>
                      </a:r>
                    </a:p>
                  </a:txBody>
                  <a:tcPr marL="137160" marR="137160" marT="137160" marB="13716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ysDash"/>
                      <a:round/>
                      <a:headEnd type="none" w="med" len="med"/>
                      <a:tailEnd type="none" w="med" len="med"/>
                    </a:lnB>
                    <a:solidFill>
                      <a:schemeClr val="tx2"/>
                    </a:solidFill>
                  </a:tcPr>
                </a:tc>
                <a:tc>
                  <a:txBody>
                    <a:bodyPr/>
                    <a:lstStyle/>
                    <a:p>
                      <a:pPr algn="ctr"/>
                      <a:r>
                        <a:rPr lang="en-US" sz="1400" b="1" dirty="0">
                          <a:solidFill>
                            <a:schemeClr val="bg1"/>
                          </a:solidFill>
                        </a:rPr>
                        <a:t>Option 3:</a:t>
                      </a:r>
                    </a:p>
                    <a:p>
                      <a:pPr algn="ctr"/>
                      <a:r>
                        <a:rPr lang="en-SG" sz="800" dirty="0">
                          <a:solidFill>
                            <a:schemeClr val="bg1"/>
                          </a:solidFill>
                        </a:rPr>
                        <a:t>Industry Benchmarking</a:t>
                      </a:r>
                      <a:endParaRPr lang="en-US" sz="800" b="1" dirty="0">
                        <a:solidFill>
                          <a:schemeClr val="bg1"/>
                        </a:solidFill>
                      </a:endParaRPr>
                    </a:p>
                  </a:txBody>
                  <a:tcPr marL="137160" marR="137160" marT="137160" marB="13716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ysDash"/>
                      <a:round/>
                      <a:headEnd type="none" w="med" len="med"/>
                      <a:tailEnd type="none" w="med" len="med"/>
                    </a:lnB>
                    <a:solidFill>
                      <a:schemeClr val="tx2"/>
                    </a:solidFill>
                  </a:tcPr>
                </a:tc>
                <a:extLst>
                  <a:ext uri="{0D108BD9-81ED-4DB2-BD59-A6C34878D82A}">
                    <a16:rowId xmlns:a16="http://schemas.microsoft.com/office/drawing/2014/main" val="198361860"/>
                  </a:ext>
                </a:extLst>
              </a:tr>
              <a:tr h="393637">
                <a:tc>
                  <a:txBody>
                    <a:bodyPr/>
                    <a:lstStyle/>
                    <a:p>
                      <a:pPr algn="ctr"/>
                      <a:r>
                        <a:rPr lang="en-US" sz="1400" b="1" dirty="0">
                          <a:solidFill>
                            <a:schemeClr val="bg1"/>
                          </a:solidFill>
                        </a:rPr>
                        <a:t>Description</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r>
                        <a:rPr lang="en-SG" sz="1000" b="0" u="none" strike="noStrike" dirty="0">
                          <a:solidFill>
                            <a:srgbClr val="000000"/>
                          </a:solidFill>
                          <a:effectLst/>
                        </a:rPr>
                        <a:t>Standalone – </a:t>
                      </a:r>
                      <a:r>
                        <a:rPr lang="en-SG" sz="1000" b="1" u="none" strike="noStrike" dirty="0">
                          <a:solidFill>
                            <a:srgbClr val="000000"/>
                          </a:solidFill>
                          <a:effectLst/>
                        </a:rPr>
                        <a:t>Absolute</a:t>
                      </a: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Standalone – </a:t>
                      </a:r>
                      <a:r>
                        <a:rPr lang="en-SG" sz="1000" b="1" u="none" strike="noStrike" dirty="0">
                          <a:solidFill>
                            <a:srgbClr val="000000"/>
                          </a:solidFill>
                          <a:effectLst/>
                        </a:rPr>
                        <a:t>Trend</a:t>
                      </a: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Relative to </a:t>
                      </a:r>
                      <a:r>
                        <a:rPr lang="en-SG" sz="1000" b="1" u="none" strike="noStrike" dirty="0">
                          <a:solidFill>
                            <a:srgbClr val="000000"/>
                          </a:solidFill>
                          <a:effectLst/>
                        </a:rPr>
                        <a:t>Industry</a:t>
                      </a: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2063418737"/>
                  </a:ext>
                </a:extLst>
              </a:tr>
              <a:tr h="623554">
                <a:tc>
                  <a:txBody>
                    <a:bodyPr/>
                    <a:lstStyle/>
                    <a:p>
                      <a:pPr algn="ctr"/>
                      <a:r>
                        <a:rPr lang="en-US" sz="1400" b="1" dirty="0">
                          <a:solidFill>
                            <a:schemeClr val="bg1"/>
                          </a:solidFill>
                        </a:rPr>
                        <a:t>Definition</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r>
                        <a:rPr lang="en-SG" sz="1000" b="0" u="none" strike="noStrike" dirty="0">
                          <a:solidFill>
                            <a:srgbClr val="000000"/>
                          </a:solidFill>
                          <a:effectLst/>
                        </a:rPr>
                        <a:t>Water consumption per employee per year.</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YoY change in water consumption per employee per year (avg. for last 3 years)</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a:solidFill>
                            <a:srgbClr val="000000"/>
                          </a:solidFill>
                          <a:effectLst/>
                        </a:rPr>
                        <a:t>Water consumption per employee per year w.r.t industry median</a:t>
                      </a:r>
                      <a:endParaRPr lang="en-SG" sz="1000" b="0" i="0" u="none" strike="noStrike">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2960595672"/>
                  </a:ext>
                </a:extLst>
              </a:tr>
              <a:tr h="402543">
                <a:tc>
                  <a:txBody>
                    <a:bodyPr/>
                    <a:lstStyle/>
                    <a:p>
                      <a:pPr algn="ctr"/>
                      <a:r>
                        <a:rPr lang="en-US" sz="1400" b="1" dirty="0">
                          <a:solidFill>
                            <a:schemeClr val="bg1"/>
                          </a:solidFill>
                        </a:rPr>
                        <a:t>Unit</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r>
                        <a:rPr lang="en-SG" sz="1000" b="0" u="none" strike="noStrike" dirty="0">
                          <a:solidFill>
                            <a:srgbClr val="000000"/>
                          </a:solidFill>
                          <a:effectLst/>
                        </a:rPr>
                        <a:t>Litres/Employee/Year</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 Change in Litres/Employee/Year</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a:solidFill>
                            <a:srgbClr val="000000"/>
                          </a:solidFill>
                          <a:effectLst/>
                        </a:rPr>
                        <a:t>% Change in Litres/Employee/Year w.r.t Industry Median</a:t>
                      </a:r>
                      <a:endParaRPr lang="en-SG" sz="1000" b="0" i="0" u="none" strike="noStrike">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4140276601"/>
                  </a:ext>
                </a:extLst>
              </a:tr>
              <a:tr h="722828">
                <a:tc>
                  <a:txBody>
                    <a:bodyPr/>
                    <a:lstStyle/>
                    <a:p>
                      <a:pPr algn="ctr"/>
                      <a:r>
                        <a:rPr lang="en-US" sz="1400" b="1" dirty="0">
                          <a:solidFill>
                            <a:schemeClr val="bg1"/>
                          </a:solidFill>
                        </a:rPr>
                        <a:t>Limits and Tolerance</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2092728834"/>
                  </a:ext>
                </a:extLst>
              </a:tr>
              <a:tr h="795032">
                <a:tc>
                  <a:txBody>
                    <a:bodyPr/>
                    <a:lstStyle/>
                    <a:p>
                      <a:pPr algn="ctr"/>
                      <a:r>
                        <a:rPr lang="en-US" sz="1400" b="1" dirty="0">
                          <a:solidFill>
                            <a:schemeClr val="bg1"/>
                          </a:solidFill>
                        </a:rPr>
                        <a:t>Pros</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r>
                        <a:rPr lang="en-SG" sz="1000" b="0" u="none" strike="noStrike">
                          <a:solidFill>
                            <a:srgbClr val="000000"/>
                          </a:solidFill>
                          <a:effectLst/>
                        </a:rPr>
                        <a:t>+ Easy to measure.</a:t>
                      </a:r>
                      <a:endParaRPr lang="en-SG" sz="1000" b="0" i="0" u="none" strike="noStrike">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a:solidFill>
                            <a:srgbClr val="000000"/>
                          </a:solidFill>
                          <a:effectLst/>
                        </a:rPr>
                        <a:t>+ Easy to measure.</a:t>
                      </a:r>
                      <a:br>
                        <a:rPr lang="en-SG" sz="1000" b="0" u="none" strike="noStrike">
                          <a:solidFill>
                            <a:srgbClr val="000000"/>
                          </a:solidFill>
                          <a:effectLst/>
                        </a:rPr>
                      </a:br>
                      <a:r>
                        <a:rPr lang="en-SG" sz="1000" b="0" u="none" strike="noStrike">
                          <a:solidFill>
                            <a:srgbClr val="000000"/>
                          </a:solidFill>
                          <a:effectLst/>
                        </a:rPr>
                        <a:t>+ Indicates effectiveness of borrower’s measures to reduce impact.</a:t>
                      </a:r>
                      <a:endParaRPr lang="en-SG" sz="1000" b="0" i="0" u="none" strike="noStrike">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 Factors in industry usage and benchmarks.</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1344495042"/>
                  </a:ext>
                </a:extLst>
              </a:tr>
              <a:tr h="738006">
                <a:tc>
                  <a:txBody>
                    <a:bodyPr/>
                    <a:lstStyle/>
                    <a:p>
                      <a:pPr algn="ctr"/>
                      <a:r>
                        <a:rPr lang="en-US" sz="1400" b="1" dirty="0">
                          <a:solidFill>
                            <a:schemeClr val="bg1"/>
                          </a:solidFill>
                        </a:rPr>
                        <a:t>Cons</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l" fontAlgn="b"/>
                      <a:r>
                        <a:rPr lang="en-SG" sz="1000" b="0" u="none" strike="noStrike" dirty="0">
                          <a:solidFill>
                            <a:srgbClr val="000000"/>
                          </a:solidFill>
                          <a:effectLst/>
                        </a:rPr>
                        <a:t>- Does not factor in trends or industry benchmarks.</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a:solidFill>
                            <a:srgbClr val="000000"/>
                          </a:solidFill>
                          <a:effectLst/>
                        </a:rPr>
                        <a:t>- Does not factor in trends or industry benchmarks.</a:t>
                      </a:r>
                      <a:br>
                        <a:rPr lang="en-SG" sz="1000" b="0" u="none" strike="noStrike">
                          <a:solidFill>
                            <a:srgbClr val="000000"/>
                          </a:solidFill>
                          <a:effectLst/>
                        </a:rPr>
                      </a:br>
                      <a:r>
                        <a:rPr lang="en-SG" sz="1000" b="0" u="none" strike="noStrike">
                          <a:solidFill>
                            <a:srgbClr val="000000"/>
                          </a:solidFill>
                          <a:effectLst/>
                        </a:rPr>
                        <a:t>- Absolute consumption may still be high.</a:t>
                      </a:r>
                      <a:br>
                        <a:rPr lang="en-SG" sz="1000" b="0" u="none" strike="noStrike">
                          <a:solidFill>
                            <a:srgbClr val="000000"/>
                          </a:solidFill>
                          <a:effectLst/>
                        </a:rPr>
                      </a:br>
                      <a:r>
                        <a:rPr lang="en-SG" sz="1000" b="0" u="none" strike="noStrike">
                          <a:solidFill>
                            <a:srgbClr val="000000"/>
                          </a:solidFill>
                          <a:effectLst/>
                        </a:rPr>
                        <a:t>- Borrower’s may not have historical data.</a:t>
                      </a:r>
                      <a:endParaRPr lang="en-SG" sz="1000" b="0" i="0" u="none" strike="noStrike">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tc>
                  <a:txBody>
                    <a:bodyPr/>
                    <a:lstStyle/>
                    <a:p>
                      <a:pPr algn="l" fontAlgn="b"/>
                      <a:r>
                        <a:rPr lang="en-SG" sz="1000" b="0" u="none" strike="noStrike" dirty="0">
                          <a:solidFill>
                            <a:srgbClr val="000000"/>
                          </a:solidFill>
                          <a:effectLst/>
                        </a:rPr>
                        <a:t>- Requires industry related detailed data.</a:t>
                      </a:r>
                      <a:endParaRPr lang="en-SG" sz="10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solidFill>
                        <a:schemeClr val="bg2"/>
                      </a:solidFill>
                      <a:prstDash val="sysDash"/>
                      <a:round/>
                      <a:headEnd type="none" w="med" len="med"/>
                      <a:tailEnd type="none" w="med" len="med"/>
                    </a:lnB>
                  </a:tcPr>
                </a:tc>
                <a:extLst>
                  <a:ext uri="{0D108BD9-81ED-4DB2-BD59-A6C34878D82A}">
                    <a16:rowId xmlns:a16="http://schemas.microsoft.com/office/drawing/2014/main" val="98614505"/>
                  </a:ext>
                </a:extLst>
              </a:tr>
              <a:tr h="905117">
                <a:tc>
                  <a:txBody>
                    <a:bodyPr/>
                    <a:lstStyle/>
                    <a:p>
                      <a:pPr algn="ctr"/>
                      <a:r>
                        <a:rPr lang="en-US" sz="1400" b="1" dirty="0">
                          <a:solidFill>
                            <a:schemeClr val="bg1"/>
                          </a:solidFill>
                        </a:rPr>
                        <a:t>Potential Road map</a:t>
                      </a:r>
                    </a:p>
                  </a:txBody>
                  <a:tcPr marL="137160" marR="137160" marT="137160" marB="137160" anchor="ctr">
                    <a:lnL w="28575" cap="flat" cmpd="sng" algn="ctr">
                      <a:solidFill>
                        <a:schemeClr val="bg1"/>
                      </a:solidFill>
                      <a:prstDash val="solid"/>
                      <a:round/>
                      <a:headEnd type="none" w="med" len="med"/>
                      <a:tailEnd type="none" w="med" len="med"/>
                    </a:lnL>
                    <a:lnR w="12700" cap="flat" cmpd="sng" algn="ctr">
                      <a:noFill/>
                      <a:prstDash val="sysDash"/>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gridSpan="3">
                  <a:txBody>
                    <a:bodyPr/>
                    <a:lstStyle/>
                    <a:p>
                      <a:pPr algn="l" fontAlgn="b"/>
                      <a:endParaRPr lang="en-SG" sz="11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noFill/>
                      <a:prstDash val="sysDash"/>
                      <a:round/>
                      <a:headEnd type="none" w="med" len="med"/>
                      <a:tailEnd type="none" w="med" len="med"/>
                    </a:lnB>
                  </a:tcPr>
                </a:tc>
                <a:tc hMerge="1">
                  <a:txBody>
                    <a:bodyPr/>
                    <a:lstStyle/>
                    <a:p>
                      <a:pPr algn="l" fontAlgn="b"/>
                      <a:endParaRPr lang="en-SG" sz="11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noFill/>
                      <a:prstDash val="sysDash"/>
                      <a:round/>
                      <a:headEnd type="none" w="med" len="med"/>
                      <a:tailEnd type="none" w="med" len="med"/>
                    </a:lnB>
                  </a:tcPr>
                </a:tc>
                <a:tc hMerge="1">
                  <a:txBody>
                    <a:bodyPr/>
                    <a:lstStyle/>
                    <a:p>
                      <a:pPr algn="l" fontAlgn="b"/>
                      <a:endParaRPr lang="en-SG" sz="1100" b="0" i="0" u="none" strike="noStrike" dirty="0">
                        <a:solidFill>
                          <a:srgbClr val="000000"/>
                        </a:solidFill>
                        <a:effectLst/>
                        <a:latin typeface="+mn-lt"/>
                      </a:endParaRPr>
                    </a:p>
                  </a:txBody>
                  <a:tcPr marL="137160" marR="137160" marT="137160" marB="137160">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bg2"/>
                      </a:solidFill>
                      <a:prstDash val="sysDash"/>
                      <a:round/>
                      <a:headEnd type="none" w="med" len="med"/>
                      <a:tailEnd type="none" w="med" len="med"/>
                    </a:lnT>
                    <a:lnB w="12700" cap="flat" cmpd="sng" algn="ctr">
                      <a:noFill/>
                      <a:prstDash val="sysDash"/>
                      <a:round/>
                      <a:headEnd type="none" w="med" len="med"/>
                      <a:tailEnd type="none" w="med" len="med"/>
                    </a:lnB>
                  </a:tcPr>
                </a:tc>
                <a:extLst>
                  <a:ext uri="{0D108BD9-81ED-4DB2-BD59-A6C34878D82A}">
                    <a16:rowId xmlns:a16="http://schemas.microsoft.com/office/drawing/2014/main" val="3977765259"/>
                  </a:ext>
                </a:extLst>
              </a:tr>
            </a:tbl>
          </a:graphicData>
        </a:graphic>
      </p:graphicFrame>
      <p:pic>
        <p:nvPicPr>
          <p:cNvPr id="14" name="Picture 13" descr="A diagram of a diagram&#10;&#10;AI-generated content may be incorrect.">
            <a:extLst>
              <a:ext uri="{FF2B5EF4-FFF2-40B4-BE49-F238E27FC236}">
                <a16:creationId xmlns:a16="http://schemas.microsoft.com/office/drawing/2014/main" id="{37BC939B-E16E-36A6-D061-B379A745F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6314" y="3254241"/>
            <a:ext cx="1358054" cy="603580"/>
          </a:xfrm>
          <a:prstGeom prst="rect">
            <a:avLst/>
          </a:prstGeom>
        </p:spPr>
      </p:pic>
      <p:pic>
        <p:nvPicPr>
          <p:cNvPr id="16" name="Picture 15" descr="A diagram of a graph&#10;&#10;AI-generated content may be incorrect.">
            <a:extLst>
              <a:ext uri="{FF2B5EF4-FFF2-40B4-BE49-F238E27FC236}">
                <a16:creationId xmlns:a16="http://schemas.microsoft.com/office/drawing/2014/main" id="{2C6DEEB8-4905-C5C2-F1D8-8B16BAD2D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5528" y="3254241"/>
            <a:ext cx="1358054" cy="591855"/>
          </a:xfrm>
          <a:prstGeom prst="rect">
            <a:avLst/>
          </a:prstGeom>
        </p:spPr>
      </p:pic>
      <p:pic>
        <p:nvPicPr>
          <p:cNvPr id="18" name="Picture 17" descr="A diagram of a diagram&#10;&#10;AI-generated content may be incorrect.">
            <a:extLst>
              <a:ext uri="{FF2B5EF4-FFF2-40B4-BE49-F238E27FC236}">
                <a16:creationId xmlns:a16="http://schemas.microsoft.com/office/drawing/2014/main" id="{36C36F05-1A94-A383-70D7-D0D01F5C24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2244" y="3228002"/>
            <a:ext cx="1358054" cy="644332"/>
          </a:xfrm>
          <a:prstGeom prst="rect">
            <a:avLst/>
          </a:prstGeom>
        </p:spPr>
      </p:pic>
      <p:graphicFrame>
        <p:nvGraphicFramePr>
          <p:cNvPr id="21" name="Table 20">
            <a:extLst>
              <a:ext uri="{FF2B5EF4-FFF2-40B4-BE49-F238E27FC236}">
                <a16:creationId xmlns:a16="http://schemas.microsoft.com/office/drawing/2014/main" id="{8E4179A7-3943-49F1-0311-F7ED7316ACEF}"/>
              </a:ext>
            </a:extLst>
          </p:cNvPr>
          <p:cNvGraphicFramePr>
            <a:graphicFrameLocks noGrp="1"/>
          </p:cNvGraphicFramePr>
          <p:nvPr>
            <p:extLst>
              <p:ext uri="{D42A27DB-BD31-4B8C-83A1-F6EECF244321}">
                <p14:modId xmlns:p14="http://schemas.microsoft.com/office/powerpoint/2010/main" val="43883779"/>
              </p:ext>
            </p:extLst>
          </p:nvPr>
        </p:nvGraphicFramePr>
        <p:xfrm>
          <a:off x="2436314" y="5494020"/>
          <a:ext cx="9352492" cy="853440"/>
        </p:xfrm>
        <a:graphic>
          <a:graphicData uri="http://schemas.openxmlformats.org/drawingml/2006/table">
            <a:tbl>
              <a:tblPr firstRow="1" bandRow="1">
                <a:tableStyleId>{2D5ABB26-0587-4C30-8999-92F81FD0307C}</a:tableStyleId>
              </a:tblPr>
              <a:tblGrid>
                <a:gridCol w="2338123">
                  <a:extLst>
                    <a:ext uri="{9D8B030D-6E8A-4147-A177-3AD203B41FA5}">
                      <a16:colId xmlns:a16="http://schemas.microsoft.com/office/drawing/2014/main" val="1092440648"/>
                    </a:ext>
                  </a:extLst>
                </a:gridCol>
                <a:gridCol w="2338123">
                  <a:extLst>
                    <a:ext uri="{9D8B030D-6E8A-4147-A177-3AD203B41FA5}">
                      <a16:colId xmlns:a16="http://schemas.microsoft.com/office/drawing/2014/main" val="3733685513"/>
                    </a:ext>
                  </a:extLst>
                </a:gridCol>
                <a:gridCol w="2338123">
                  <a:extLst>
                    <a:ext uri="{9D8B030D-6E8A-4147-A177-3AD203B41FA5}">
                      <a16:colId xmlns:a16="http://schemas.microsoft.com/office/drawing/2014/main" val="2335465175"/>
                    </a:ext>
                  </a:extLst>
                </a:gridCol>
                <a:gridCol w="2338123">
                  <a:extLst>
                    <a:ext uri="{9D8B030D-6E8A-4147-A177-3AD203B41FA5}">
                      <a16:colId xmlns:a16="http://schemas.microsoft.com/office/drawing/2014/main" val="3151897985"/>
                    </a:ext>
                  </a:extLst>
                </a:gridCol>
              </a:tblGrid>
              <a:tr h="180663">
                <a:tc>
                  <a:txBody>
                    <a:bodyPr/>
                    <a:lstStyle/>
                    <a:p>
                      <a:pPr algn="ctr"/>
                      <a:endParaRPr lang="en-US" sz="800"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800" b="1" dirty="0"/>
                        <a:t>Short Term</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r>
                        <a:rPr lang="en-US" sz="800" b="1" dirty="0"/>
                        <a:t>Medium Term</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r>
                        <a:rPr lang="en-US" sz="800" b="1" dirty="0"/>
                        <a:t>Long Term</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1860763038"/>
                  </a:ext>
                </a:extLst>
              </a:tr>
              <a:tr h="193567">
                <a:tc>
                  <a:txBody>
                    <a:bodyPr/>
                    <a:lstStyle/>
                    <a:p>
                      <a:pPr algn="ctr"/>
                      <a:r>
                        <a:rPr lang="en-US" sz="800" b="1" dirty="0"/>
                        <a:t>Large Corporate Groups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r>
                        <a:rPr lang="en-US" sz="800" dirty="0"/>
                        <a:t>Option 2</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tc>
                  <a:txBody>
                    <a:bodyPr/>
                    <a:lstStyle/>
                    <a:p>
                      <a:pPr algn="ctr"/>
                      <a:r>
                        <a:rPr lang="en-US" sz="800" dirty="0"/>
                        <a:t>Option 3</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tc>
                  <a:txBody>
                    <a:bodyPr/>
                    <a:lstStyle/>
                    <a:p>
                      <a:pPr algn="ctr"/>
                      <a:endParaRPr lang="en-US" sz="800"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16502376"/>
                  </a:ext>
                </a:extLst>
              </a:tr>
              <a:tr h="193567">
                <a:tc>
                  <a:txBody>
                    <a:bodyPr/>
                    <a:lstStyle/>
                    <a:p>
                      <a:pPr algn="ctr"/>
                      <a:r>
                        <a:rPr lang="en-US" sz="800" b="1" dirty="0"/>
                        <a:t>Medium Corporates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r>
                        <a:rPr lang="en-US" sz="800" dirty="0"/>
                        <a:t>Option 1</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800" dirty="0"/>
                        <a:t>Option 2</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800" dirty="0"/>
                        <a:t>Option 3</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376006847"/>
                  </a:ext>
                </a:extLst>
              </a:tr>
              <a:tr h="193567">
                <a:tc>
                  <a:txBody>
                    <a:bodyPr/>
                    <a:lstStyle/>
                    <a:p>
                      <a:pPr algn="ctr"/>
                      <a:r>
                        <a:rPr lang="en-US" sz="800" b="1" dirty="0"/>
                        <a:t>Small &amp; Medium Enterprises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endParaRPr lang="en-US" sz="800"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tc>
                  <a:txBody>
                    <a:bodyPr/>
                    <a:lstStyle/>
                    <a:p>
                      <a:pPr algn="ctr"/>
                      <a:r>
                        <a:rPr lang="en-US" sz="800" dirty="0"/>
                        <a:t>Option 2</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tc>
                  <a:txBody>
                    <a:bodyPr/>
                    <a:lstStyle/>
                    <a:p>
                      <a:pPr algn="ctr"/>
                      <a:r>
                        <a:rPr lang="en-US" sz="800" dirty="0"/>
                        <a:t>Option 3</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937190212"/>
                  </a:ext>
                </a:extLst>
              </a:tr>
            </a:tbl>
          </a:graphicData>
        </a:graphic>
      </p:graphicFrame>
    </p:spTree>
    <p:extLst>
      <p:ext uri="{BB962C8B-B14F-4D97-AF65-F5344CB8AC3E}">
        <p14:creationId xmlns:p14="http://schemas.microsoft.com/office/powerpoint/2010/main" val="35203229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1">
      <a:dk1>
        <a:srgbClr val="000000"/>
      </a:dk1>
      <a:lt1>
        <a:srgbClr val="FFFFFF"/>
      </a:lt1>
      <a:dk2>
        <a:srgbClr val="44546A"/>
      </a:dk2>
      <a:lt2>
        <a:srgbClr val="E7E6E6"/>
      </a:lt2>
      <a:accent1>
        <a:srgbClr val="FFBF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Maybank.potx" id="{B1755CDD-9389-4DA6-A402-0508EFACCC3C}" vid="{DBE61ACF-C050-4415-ACE3-83AB375712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90925</TotalTime>
  <Words>945</Words>
  <Application>Microsoft Macintosh PowerPoint</Application>
  <PresentationFormat>Widescreen</PresentationFormat>
  <Paragraphs>125</Paragraphs>
  <Slides>2</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7" baseType="lpstr">
      <vt:lpstr>Arial</vt:lpstr>
      <vt:lpstr>Calibri</vt:lpstr>
      <vt:lpstr>Trebuchet MS</vt:lpstr>
      <vt:lpstr>1_Office Theme</vt:lpstr>
      <vt:lpstr>think-cell Slide</vt:lpstr>
      <vt:lpstr>Integrating ESG Risks Into Credit Assessment: Sustainability Use Case</vt:lpstr>
      <vt:lpstr>Example of defining units, limits, and tolerances for a sample ESG metric</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SP4A SG Model deployment activity</dc:title>
  <dc:creator>CHEN CHIN LIN SAMUEL</dc:creator>
  <cp:lastModifiedBy>Yu Seung Gyun</cp:lastModifiedBy>
  <cp:revision>1334</cp:revision>
  <dcterms:created xsi:type="dcterms:W3CDTF">2024-06-11T10:26:34Z</dcterms:created>
  <dcterms:modified xsi:type="dcterms:W3CDTF">2025-01-20T08:28:17Z</dcterms:modified>
</cp:coreProperties>
</file>